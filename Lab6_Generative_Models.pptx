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embeddedFontLst>
    <p:embeddedFont>
      <p:font typeface="Libre Baskerville" panose="02000000000000000000" pitchFamily="2" charset="0"/>
      <p:regular r:id="rId24"/>
      <p:bold r:id="rId25"/>
      <p:italic r:id="rId26"/>
    </p:embeddedFont>
    <p:embeddedFont>
      <p:font typeface="Libre Franklin" pitchFamily="2" charset="0"/>
      <p:regular r:id="rId27"/>
      <p:bold r:id="rId28"/>
      <p:italic r:id="rId29"/>
      <p:boldItalic r:id="rId30"/>
    </p:embeddedFont>
    <p:embeddedFont>
      <p:font typeface="Times" panose="02020603050405020304" pitchFamily="18"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nOB+ynUX9uT2O2/6WadvcGy9T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2"/>
    <p:restoredTop sz="87400" autoAdjust="0"/>
  </p:normalViewPr>
  <p:slideViewPr>
    <p:cSldViewPr snapToGrid="0">
      <p:cViewPr varScale="1">
        <p:scale>
          <a:sx n="99" d="100"/>
          <a:sy n="99" d="100"/>
        </p:scale>
        <p:origin x="7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txBox="1">
            <a:spLocks noGrp="1"/>
          </p:cNvSpPr>
          <p:nvPr>
            <p:ph type="body" idx="1"/>
          </p:nvPr>
        </p:nvSpPr>
        <p:spPr>
          <a:xfrm>
            <a:off x="685800" y="4400640"/>
            <a:ext cx="5484960" cy="35989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300" b="0" strike="noStrike" dirty="0">
              <a:solidFill>
                <a:srgbClr val="000000"/>
              </a:solidFill>
              <a:latin typeface="Arial"/>
              <a:ea typeface="Arial"/>
              <a:cs typeface="Arial"/>
              <a:sym typeface="Arial"/>
            </a:endParaRPr>
          </a:p>
        </p:txBody>
      </p:sp>
      <p:sp>
        <p:nvSpPr>
          <p:cNvPr id="116" name="Google Shape;116;p1:notes"/>
          <p:cNvSpPr/>
          <p:nvPr/>
        </p:nvSpPr>
        <p:spPr>
          <a:xfrm>
            <a:off x="3884760" y="8685360"/>
            <a:ext cx="2970360" cy="45720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1</a:t>
            </a:fld>
            <a:endParaRPr sz="1800" b="0" i="0" u="none" strike="noStrike" cap="none">
              <a:solidFill>
                <a:srgbClr val="000000"/>
              </a:solidFill>
              <a:latin typeface="Arial"/>
              <a:ea typeface="Arial"/>
              <a:cs typeface="Arial"/>
              <a:sym typeface="Arial"/>
            </a:endParaRPr>
          </a:p>
        </p:txBody>
      </p:sp>
      <p:sp>
        <p:nvSpPr>
          <p:cNvPr id="117" name="Google Shape;11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685800" y="4400640"/>
            <a:ext cx="5484960" cy="35989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2000" b="0" strike="noStrike" dirty="0">
              <a:solidFill>
                <a:srgbClr val="000000"/>
              </a:solidFill>
              <a:latin typeface="Arial"/>
              <a:ea typeface="Arial"/>
              <a:cs typeface="Arial"/>
              <a:sym typeface="Arial"/>
            </a:endParaRPr>
          </a:p>
        </p:txBody>
      </p:sp>
      <p:sp>
        <p:nvSpPr>
          <p:cNvPr id="125" name="Google Shape;125;p2:notes"/>
          <p:cNvSpPr/>
          <p:nvPr/>
        </p:nvSpPr>
        <p:spPr>
          <a:xfrm>
            <a:off x="3884760" y="8685360"/>
            <a:ext cx="2970360" cy="45720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2</a:t>
            </a:fld>
            <a:endParaRPr sz="1800" b="0" i="0" u="none" strike="noStrike" cap="none">
              <a:solidFill>
                <a:srgbClr val="000000"/>
              </a:solidFill>
              <a:latin typeface="Arial"/>
              <a:ea typeface="Arial"/>
              <a:cs typeface="Arial"/>
              <a:sym typeface="Arial"/>
            </a:endParaRPr>
          </a:p>
        </p:txBody>
      </p:sp>
      <p:sp>
        <p:nvSpPr>
          <p:cNvPr id="126" name="Google Shape;12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
        <p:nvSpPr>
          <p:cNvPr id="132" name="Google Shape;13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71dc8c5e98_0_295:notes"/>
          <p:cNvSpPr>
            <a:spLocks noGrp="1" noRot="1" noChangeAspect="1"/>
          </p:cNvSpPr>
          <p:nvPr>
            <p:ph type="sldImg" idx="2"/>
          </p:nvPr>
        </p:nvSpPr>
        <p:spPr>
          <a:xfrm>
            <a:off x="430629" y="686405"/>
            <a:ext cx="5996700" cy="342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271dc8c5e98_0_295:notes"/>
          <p:cNvSpPr txBox="1">
            <a:spLocks noGrp="1"/>
          </p:cNvSpPr>
          <p:nvPr>
            <p:ph type="body" idx="1"/>
          </p:nvPr>
        </p:nvSpPr>
        <p:spPr>
          <a:xfrm>
            <a:off x="685801" y="4343402"/>
            <a:ext cx="5486400" cy="4114800"/>
          </a:xfrm>
          <a:prstGeom prst="rect">
            <a:avLst/>
          </a:prstGeom>
          <a:noFill/>
          <a:ln>
            <a:noFill/>
          </a:ln>
        </p:spPr>
        <p:txBody>
          <a:bodyPr spcFirstLastPara="1" wrap="square" lIns="89300" tIns="44650" rIns="89300" bIns="44650" anchor="t" anchorCtr="0">
            <a:noAutofit/>
          </a:bodyPr>
          <a:lstStyle/>
          <a:p>
            <a:pPr marL="0" lvl="0" indent="0" algn="l" rtl="0">
              <a:lnSpc>
                <a:spcPct val="100000"/>
              </a:lnSpc>
              <a:spcBef>
                <a:spcPts val="0"/>
              </a:spcBef>
              <a:spcAft>
                <a:spcPts val="0"/>
              </a:spcAft>
              <a:buSzPts val="1300"/>
              <a:buNone/>
            </a:pPr>
            <a:endParaRPr/>
          </a:p>
        </p:txBody>
      </p:sp>
      <p:sp>
        <p:nvSpPr>
          <p:cNvPr id="140" name="Google Shape;140;g271dc8c5e98_0_295:notes"/>
          <p:cNvSpPr txBox="1">
            <a:spLocks noGrp="1"/>
          </p:cNvSpPr>
          <p:nvPr>
            <p:ph type="sldNum" idx="12"/>
          </p:nvPr>
        </p:nvSpPr>
        <p:spPr>
          <a:xfrm>
            <a:off x="3884615" y="8685214"/>
            <a:ext cx="2971800" cy="457200"/>
          </a:xfrm>
          <a:prstGeom prst="rect">
            <a:avLst/>
          </a:prstGeom>
          <a:noFill/>
          <a:ln>
            <a:noFill/>
          </a:ln>
        </p:spPr>
        <p:txBody>
          <a:bodyPr spcFirstLastPara="1" wrap="square" lIns="89300" tIns="44650" rIns="89300" bIns="4465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4</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
        <p:nvSpPr>
          <p:cNvPr id="145" name="Google Shape;14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4df1959d47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2" name="Google Shape;152;g34df1959d4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dirty="0">
              <a:solidFill>
                <a:schemeClr val="dk1"/>
              </a:solidFill>
              <a:latin typeface="Times New Roman"/>
              <a:ea typeface="Times New Roman"/>
              <a:cs typeface="Times New Roman"/>
              <a:sym typeface="Times New Roman"/>
            </a:endParaRPr>
          </a:p>
        </p:txBody>
      </p:sp>
      <p:sp>
        <p:nvSpPr>
          <p:cNvPr id="158" name="Google Shape;15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4df1959d47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g34df1959d47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71dc8c5e98_0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g271dc8c5e98_0_2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71dc8c5e98_0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3" name="Google Shape;183;g271dc8c5e98_0_2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71dc8c5e98_0_242:notes"/>
          <p:cNvSpPr>
            <a:spLocks noGrp="1" noRot="1" noChangeAspect="1"/>
          </p:cNvSpPr>
          <p:nvPr>
            <p:ph type="sldImg" idx="2"/>
          </p:nvPr>
        </p:nvSpPr>
        <p:spPr>
          <a:xfrm>
            <a:off x="430629" y="686405"/>
            <a:ext cx="5996700" cy="342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271dc8c5e98_0_242:notes"/>
          <p:cNvSpPr txBox="1">
            <a:spLocks noGrp="1"/>
          </p:cNvSpPr>
          <p:nvPr>
            <p:ph type="body" idx="1"/>
          </p:nvPr>
        </p:nvSpPr>
        <p:spPr>
          <a:xfrm>
            <a:off x="685801" y="4343402"/>
            <a:ext cx="5486400" cy="4114800"/>
          </a:xfrm>
          <a:prstGeom prst="rect">
            <a:avLst/>
          </a:prstGeom>
          <a:noFill/>
          <a:ln>
            <a:noFill/>
          </a:ln>
        </p:spPr>
        <p:txBody>
          <a:bodyPr spcFirstLastPara="1" wrap="square" lIns="89300" tIns="44650" rIns="89300" bIns="44650" anchor="t" anchorCtr="0">
            <a:noAutofit/>
          </a:bodyPr>
          <a:lstStyle/>
          <a:p>
            <a:pPr marL="0" lvl="0" indent="0" algn="l" rtl="0">
              <a:lnSpc>
                <a:spcPct val="100000"/>
              </a:lnSpc>
              <a:spcBef>
                <a:spcPts val="0"/>
              </a:spcBef>
              <a:spcAft>
                <a:spcPts val="0"/>
              </a:spcAft>
              <a:buSzPts val="1300"/>
              <a:buNone/>
            </a:pPr>
            <a:endParaRPr/>
          </a:p>
        </p:txBody>
      </p:sp>
      <p:sp>
        <p:nvSpPr>
          <p:cNvPr id="190" name="Google Shape;190;g271dc8c5e98_0_242:notes"/>
          <p:cNvSpPr txBox="1">
            <a:spLocks noGrp="1"/>
          </p:cNvSpPr>
          <p:nvPr>
            <p:ph type="sldNum" idx="12"/>
          </p:nvPr>
        </p:nvSpPr>
        <p:spPr>
          <a:xfrm>
            <a:off x="3884615" y="8685214"/>
            <a:ext cx="2971800" cy="457200"/>
          </a:xfrm>
          <a:prstGeom prst="rect">
            <a:avLst/>
          </a:prstGeom>
          <a:noFill/>
          <a:ln>
            <a:noFill/>
          </a:ln>
        </p:spPr>
        <p:txBody>
          <a:bodyPr spcFirstLastPara="1" wrap="square" lIns="89300" tIns="44650" rIns="89300" bIns="4465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11</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415af6205d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5" name="Google Shape;195;g2415af6205d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1" name="Google Shape;20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71dc8c5e98_0_2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271dc8c5e98_0_2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71dc8c5e98_0_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g271dc8c5e98_0_3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71dc8c5e98_0_301:notes"/>
          <p:cNvSpPr>
            <a:spLocks noGrp="1" noRot="1" noChangeAspect="1"/>
          </p:cNvSpPr>
          <p:nvPr>
            <p:ph type="sldImg" idx="2"/>
          </p:nvPr>
        </p:nvSpPr>
        <p:spPr>
          <a:xfrm>
            <a:off x="430629" y="686405"/>
            <a:ext cx="5996700" cy="342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g271dc8c5e98_0_301:notes"/>
          <p:cNvSpPr txBox="1">
            <a:spLocks noGrp="1"/>
          </p:cNvSpPr>
          <p:nvPr>
            <p:ph type="body" idx="1"/>
          </p:nvPr>
        </p:nvSpPr>
        <p:spPr>
          <a:xfrm>
            <a:off x="685801" y="4343402"/>
            <a:ext cx="5486400" cy="4114800"/>
          </a:xfrm>
          <a:prstGeom prst="rect">
            <a:avLst/>
          </a:prstGeom>
          <a:noFill/>
          <a:ln>
            <a:noFill/>
          </a:ln>
        </p:spPr>
        <p:txBody>
          <a:bodyPr spcFirstLastPara="1" wrap="square" lIns="89300" tIns="44650" rIns="89300" bIns="44650" anchor="t" anchorCtr="0">
            <a:noAutofit/>
          </a:bodyPr>
          <a:lstStyle/>
          <a:p>
            <a:pPr marL="0" lvl="0" indent="0" algn="l" rtl="0">
              <a:lnSpc>
                <a:spcPct val="100000"/>
              </a:lnSpc>
              <a:spcBef>
                <a:spcPts val="0"/>
              </a:spcBef>
              <a:spcAft>
                <a:spcPts val="0"/>
              </a:spcAft>
              <a:buSzPts val="1300"/>
              <a:buNone/>
            </a:pPr>
            <a:endParaRPr/>
          </a:p>
        </p:txBody>
      </p:sp>
      <p:sp>
        <p:nvSpPr>
          <p:cNvPr id="226" name="Google Shape;226;g271dc8c5e98_0_301:notes"/>
          <p:cNvSpPr txBox="1">
            <a:spLocks noGrp="1"/>
          </p:cNvSpPr>
          <p:nvPr>
            <p:ph type="sldNum" idx="12"/>
          </p:nvPr>
        </p:nvSpPr>
        <p:spPr>
          <a:xfrm>
            <a:off x="3884615" y="8685214"/>
            <a:ext cx="2971800" cy="457200"/>
          </a:xfrm>
          <a:prstGeom prst="rect">
            <a:avLst/>
          </a:prstGeom>
          <a:noFill/>
          <a:ln>
            <a:noFill/>
          </a:ln>
        </p:spPr>
        <p:txBody>
          <a:bodyPr spcFirstLastPara="1" wrap="square" lIns="89300" tIns="44650" rIns="89300" bIns="4465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16</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7feb24d4d9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1" name="Google Shape;231;g27feb24d4d9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4:notes"/>
          <p:cNvSpPr/>
          <p:nvPr/>
        </p:nvSpPr>
        <p:spPr>
          <a:xfrm>
            <a:off x="685800" y="4343400"/>
            <a:ext cx="5484960" cy="411336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4:notes"/>
          <p:cNvSpPr txBox="1">
            <a:spLocks noGrp="1"/>
          </p:cNvSpPr>
          <p:nvPr>
            <p:ph type="body" idx="1"/>
          </p:nvPr>
        </p:nvSpPr>
        <p:spPr>
          <a:xfrm>
            <a:off x="685800" y="4400640"/>
            <a:ext cx="5484960" cy="35989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2000"/>
          </a:p>
        </p:txBody>
      </p:sp>
      <p:sp>
        <p:nvSpPr>
          <p:cNvPr id="238" name="Google Shape;23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1"/>
        <p:cNvGrpSpPr/>
        <p:nvPr/>
      </p:nvGrpSpPr>
      <p:grpSpPr>
        <a:xfrm>
          <a:off x="0" y="0"/>
          <a:ext cx="0" cy="0"/>
          <a:chOff x="0" y="0"/>
          <a:chExt cx="0" cy="0"/>
        </a:xfrm>
      </p:grpSpPr>
      <p:sp>
        <p:nvSpPr>
          <p:cNvPr id="12" name="Google Shape;12;p1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9"/>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4"/>
        <p:cNvGrpSpPr/>
        <p:nvPr/>
      </p:nvGrpSpPr>
      <p:grpSpPr>
        <a:xfrm>
          <a:off x="0" y="0"/>
          <a:ext cx="0" cy="0"/>
          <a:chOff x="0" y="0"/>
          <a:chExt cx="0" cy="0"/>
        </a:xfrm>
      </p:grpSpPr>
      <p:sp>
        <p:nvSpPr>
          <p:cNvPr id="15" name="Google Shape;15;p2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0"/>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7"/>
        <p:cNvGrpSpPr/>
        <p:nvPr/>
      </p:nvGrpSpPr>
      <p:grpSpPr>
        <a:xfrm>
          <a:off x="0" y="0"/>
          <a:ext cx="0" cy="0"/>
          <a:chOff x="0" y="0"/>
          <a:chExt cx="0" cy="0"/>
        </a:xfrm>
      </p:grpSpPr>
      <p:sp>
        <p:nvSpPr>
          <p:cNvPr id="18" name="Google Shape;18;p2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1"/>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3"/>
        <p:cNvGrpSpPr/>
        <p:nvPr/>
      </p:nvGrpSpPr>
      <p:grpSpPr>
        <a:xfrm>
          <a:off x="0" y="0"/>
          <a:ext cx="0" cy="0"/>
          <a:chOff x="0" y="0"/>
          <a:chExt cx="0" cy="0"/>
        </a:xfrm>
      </p:grpSpPr>
      <p:sp>
        <p:nvSpPr>
          <p:cNvPr id="24" name="Google Shape;24;p23"/>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5"/>
        <p:cNvGrpSpPr/>
        <p:nvPr/>
      </p:nvGrpSpPr>
      <p:grpSpPr>
        <a:xfrm>
          <a:off x="0" y="0"/>
          <a:ext cx="0" cy="0"/>
          <a:chOff x="0" y="0"/>
          <a:chExt cx="0" cy="0"/>
        </a:xfrm>
      </p:grpSpPr>
      <p:sp>
        <p:nvSpPr>
          <p:cNvPr id="26" name="Google Shape;26;p2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4"/>
          <p:cNvSpPr txBox="1">
            <a:spLocks noGrp="1"/>
          </p:cNvSpPr>
          <p:nvPr>
            <p:ph type="body" idx="2"/>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4"/>
          <p:cNvSpPr txBox="1">
            <a:spLocks noGrp="1"/>
          </p:cNvSpPr>
          <p:nvPr>
            <p:ph type="body" idx="3"/>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0"/>
        <p:cNvGrpSpPr/>
        <p:nvPr/>
      </p:nvGrpSpPr>
      <p:grpSpPr>
        <a:xfrm>
          <a:off x="0" y="0"/>
          <a:ext cx="0" cy="0"/>
          <a:chOff x="0" y="0"/>
          <a:chExt cx="0" cy="0"/>
        </a:xfrm>
      </p:grpSpPr>
      <p:sp>
        <p:nvSpPr>
          <p:cNvPr id="31" name="Google Shape;31;p2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5"/>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5"/>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5"/>
        <p:cNvGrpSpPr/>
        <p:nvPr/>
      </p:nvGrpSpPr>
      <p:grpSpPr>
        <a:xfrm>
          <a:off x="0" y="0"/>
          <a:ext cx="0" cy="0"/>
          <a:chOff x="0" y="0"/>
          <a:chExt cx="0" cy="0"/>
        </a:xfrm>
      </p:grpSpPr>
      <p:sp>
        <p:nvSpPr>
          <p:cNvPr id="36" name="Google Shape;36;p2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6"/>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0"/>
        <p:cNvGrpSpPr/>
        <p:nvPr/>
      </p:nvGrpSpPr>
      <p:grpSpPr>
        <a:xfrm>
          <a:off x="0" y="0"/>
          <a:ext cx="0" cy="0"/>
          <a:chOff x="0" y="0"/>
          <a:chExt cx="0" cy="0"/>
        </a:xfrm>
      </p:grpSpPr>
      <p:sp>
        <p:nvSpPr>
          <p:cNvPr id="41" name="Google Shape;41;p2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27"/>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8"/>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8"/>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body" idx="4"/>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0"/>
        <p:cNvGrpSpPr/>
        <p:nvPr/>
      </p:nvGrpSpPr>
      <p:grpSpPr>
        <a:xfrm>
          <a:off x="0" y="0"/>
          <a:ext cx="0" cy="0"/>
          <a:chOff x="0" y="0"/>
          <a:chExt cx="0" cy="0"/>
        </a:xfrm>
      </p:grpSpPr>
      <p:sp>
        <p:nvSpPr>
          <p:cNvPr id="51" name="Google Shape;51;p2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9"/>
          <p:cNvSpPr txBox="1">
            <a:spLocks noGrp="1"/>
          </p:cNvSpPr>
          <p:nvPr>
            <p:ph type="body" idx="2"/>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4" name="Google Shape;54;p29"/>
          <p:cNvPicPr preferRelativeResize="0"/>
          <p:nvPr/>
        </p:nvPicPr>
        <p:blipFill rotWithShape="1">
          <a:blip r:embed="rId2">
            <a:alphaModFix/>
          </a:blip>
          <a:srcRect/>
          <a:stretch/>
        </p:blipFill>
        <p:spPr>
          <a:xfrm>
            <a:off x="3602880" y="1604520"/>
            <a:ext cx="4984920" cy="3977280"/>
          </a:xfrm>
          <a:prstGeom prst="rect">
            <a:avLst/>
          </a:prstGeom>
          <a:noFill/>
          <a:ln>
            <a:noFill/>
          </a:ln>
        </p:spPr>
      </p:pic>
      <p:pic>
        <p:nvPicPr>
          <p:cNvPr id="55" name="Google Shape;55;p29"/>
          <p:cNvPicPr preferRelativeResize="0"/>
          <p:nvPr/>
        </p:nvPicPr>
        <p:blipFill rotWithShape="1">
          <a:blip r:embed="rId2">
            <a:alphaModFix/>
          </a:blip>
          <a:srcRect/>
          <a:stretch/>
        </p:blipFill>
        <p:spPr>
          <a:xfrm>
            <a:off x="3602880" y="1604520"/>
            <a:ext cx="4984920" cy="39772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6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標題投影片">
  <p:cSld name="1_標題投影片">
    <p:spTree>
      <p:nvGrpSpPr>
        <p:cNvPr id="1" name="Shape 63"/>
        <p:cNvGrpSpPr/>
        <p:nvPr/>
      </p:nvGrpSpPr>
      <p:grpSpPr>
        <a:xfrm>
          <a:off x="0" y="0"/>
          <a:ext cx="0" cy="0"/>
          <a:chOff x="0" y="0"/>
          <a:chExt cx="0" cy="0"/>
        </a:xfrm>
      </p:grpSpPr>
      <p:sp>
        <p:nvSpPr>
          <p:cNvPr id="64" name="Google Shape;64;g271dc8c5e98_0_199"/>
          <p:cNvSpPr txBox="1">
            <a:spLocks noGrp="1"/>
          </p:cNvSpPr>
          <p:nvPr>
            <p:ph type="ctrTitle"/>
          </p:nvPr>
        </p:nvSpPr>
        <p:spPr>
          <a:xfrm>
            <a:off x="239349" y="1310903"/>
            <a:ext cx="11809200" cy="1470000"/>
          </a:xfrm>
          <a:prstGeom prst="rect">
            <a:avLst/>
          </a:prstGeom>
          <a:noFill/>
          <a:ln>
            <a:noFill/>
          </a:ln>
        </p:spPr>
        <p:txBody>
          <a:bodyPr spcFirstLastPara="1" wrap="square" lIns="91425" tIns="45700" rIns="91425" bIns="91425" anchor="b" anchorCtr="0">
            <a:normAutofit/>
          </a:bodyPr>
          <a:lstStyle>
            <a:lvl1pPr lvl="0" algn="ctr">
              <a:lnSpc>
                <a:spcPct val="100000"/>
              </a:lnSpc>
              <a:spcBef>
                <a:spcPts val="0"/>
              </a:spcBef>
              <a:spcAft>
                <a:spcPts val="0"/>
              </a:spcAft>
              <a:buClr>
                <a:srgbClr val="003399"/>
              </a:buClr>
              <a:buSzPts val="3600"/>
              <a:buFont typeface="Libre Franklin"/>
              <a:buNone/>
              <a:defRPr sz="3600" b="0">
                <a:solidFill>
                  <a:srgbClr val="003399"/>
                </a:solidFill>
                <a:latin typeface="Libre Franklin"/>
                <a:ea typeface="Libre Franklin"/>
                <a:cs typeface="Libre Franklin"/>
                <a:sym typeface="Libre Frankli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g271dc8c5e98_0_199"/>
          <p:cNvSpPr txBox="1">
            <a:spLocks noGrp="1"/>
          </p:cNvSpPr>
          <p:nvPr>
            <p:ph type="subTitle" idx="1"/>
          </p:nvPr>
        </p:nvSpPr>
        <p:spPr>
          <a:xfrm>
            <a:off x="3130219" y="2924944"/>
            <a:ext cx="5654100" cy="6480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580"/>
              </a:spcBef>
              <a:spcAft>
                <a:spcPts val="0"/>
              </a:spcAft>
              <a:buSzPts val="2380"/>
              <a:buNone/>
              <a:defRPr sz="2800">
                <a:solidFill>
                  <a:schemeClr val="dk1"/>
                </a:solidFill>
                <a:latin typeface="Times"/>
                <a:ea typeface="Times"/>
                <a:cs typeface="Times"/>
                <a:sym typeface="Times"/>
              </a:defRPr>
            </a:lvl1pPr>
            <a:lvl2pPr lvl="1" algn="ctr">
              <a:lnSpc>
                <a:spcPct val="100000"/>
              </a:lnSpc>
              <a:spcBef>
                <a:spcPts val="370"/>
              </a:spcBef>
              <a:spcAft>
                <a:spcPts val="0"/>
              </a:spcAft>
              <a:buSzPts val="2040"/>
              <a:buNone/>
              <a:defRPr>
                <a:solidFill>
                  <a:srgbClr val="888888"/>
                </a:solidFill>
              </a:defRPr>
            </a:lvl2pPr>
            <a:lvl3pPr lvl="2" algn="ctr">
              <a:lnSpc>
                <a:spcPct val="100000"/>
              </a:lnSpc>
              <a:spcBef>
                <a:spcPts val="370"/>
              </a:spcBef>
              <a:spcAft>
                <a:spcPts val="0"/>
              </a:spcAft>
              <a:buSzPts val="1700"/>
              <a:buNone/>
              <a:defRPr>
                <a:solidFill>
                  <a:srgbClr val="888888"/>
                </a:solidFill>
              </a:defRPr>
            </a:lvl3pPr>
            <a:lvl4pPr lvl="3" algn="ctr">
              <a:lnSpc>
                <a:spcPct val="100000"/>
              </a:lnSpc>
              <a:spcBef>
                <a:spcPts val="370"/>
              </a:spcBef>
              <a:spcAft>
                <a:spcPts val="0"/>
              </a:spcAft>
              <a:buSzPts val="1600"/>
              <a:buNone/>
              <a:defRPr>
                <a:solidFill>
                  <a:srgbClr val="888888"/>
                </a:solidFill>
              </a:defRPr>
            </a:lvl4pPr>
            <a:lvl5pPr lvl="4" algn="ctr">
              <a:lnSpc>
                <a:spcPct val="100000"/>
              </a:lnSpc>
              <a:spcBef>
                <a:spcPts val="370"/>
              </a:spcBef>
              <a:spcAft>
                <a:spcPts val="0"/>
              </a:spcAft>
              <a:buSzPts val="2000"/>
              <a:buFont typeface="Calibri"/>
              <a:buNone/>
              <a:defRPr>
                <a:solidFill>
                  <a:srgbClr val="888888"/>
                </a:solidFill>
              </a:defRPr>
            </a:lvl5pPr>
            <a:lvl6pPr lvl="5" algn="ctr">
              <a:lnSpc>
                <a:spcPct val="100000"/>
              </a:lnSpc>
              <a:spcBef>
                <a:spcPts val="370"/>
              </a:spcBef>
              <a:spcAft>
                <a:spcPts val="0"/>
              </a:spcAft>
              <a:buSzPts val="1800"/>
              <a:buFont typeface="Libre Baskerville"/>
              <a:buNone/>
              <a:defRPr>
                <a:solidFill>
                  <a:srgbClr val="888888"/>
                </a:solidFill>
              </a:defRPr>
            </a:lvl6pPr>
            <a:lvl7pPr lvl="6" algn="ctr">
              <a:lnSpc>
                <a:spcPct val="100000"/>
              </a:lnSpc>
              <a:spcBef>
                <a:spcPts val="370"/>
              </a:spcBef>
              <a:spcAft>
                <a:spcPts val="0"/>
              </a:spcAft>
              <a:buSzPts val="1800"/>
              <a:buFont typeface="Libre Baskerville"/>
              <a:buNone/>
              <a:defRPr>
                <a:solidFill>
                  <a:srgbClr val="888888"/>
                </a:solidFill>
              </a:defRPr>
            </a:lvl7pPr>
            <a:lvl8pPr lvl="7" algn="ctr">
              <a:lnSpc>
                <a:spcPct val="100000"/>
              </a:lnSpc>
              <a:spcBef>
                <a:spcPts val="370"/>
              </a:spcBef>
              <a:spcAft>
                <a:spcPts val="0"/>
              </a:spcAft>
              <a:buSzPts val="1800"/>
              <a:buFont typeface="Libre Baskerville"/>
              <a:buNone/>
              <a:defRPr>
                <a:solidFill>
                  <a:srgbClr val="888888"/>
                </a:solidFill>
              </a:defRPr>
            </a:lvl8pPr>
            <a:lvl9pPr lvl="8" algn="ctr">
              <a:lnSpc>
                <a:spcPct val="100000"/>
              </a:lnSpc>
              <a:spcBef>
                <a:spcPts val="370"/>
              </a:spcBef>
              <a:spcAft>
                <a:spcPts val="0"/>
              </a:spcAft>
              <a:buSzPts val="1800"/>
              <a:buFont typeface="Libre Baskerville"/>
              <a:buNone/>
              <a:defRPr>
                <a:solidFill>
                  <a:srgbClr val="888888"/>
                </a:solidFill>
              </a:defRPr>
            </a:lvl9pPr>
          </a:lstStyle>
          <a:p>
            <a:endParaRPr/>
          </a:p>
        </p:txBody>
      </p:sp>
      <p:sp>
        <p:nvSpPr>
          <p:cNvPr id="66" name="Google Shape;66;g271dc8c5e98_0_199"/>
          <p:cNvSpPr txBox="1">
            <a:spLocks noGrp="1"/>
          </p:cNvSpPr>
          <p:nvPr>
            <p:ph type="dt" idx="10"/>
          </p:nvPr>
        </p:nvSpPr>
        <p:spPr>
          <a:xfrm>
            <a:off x="8229600" y="6191250"/>
            <a:ext cx="3302100" cy="4764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g271dc8c5e98_0_199"/>
          <p:cNvSpPr txBox="1">
            <a:spLocks noGrp="1"/>
          </p:cNvSpPr>
          <p:nvPr>
            <p:ph type="body" idx="2"/>
          </p:nvPr>
        </p:nvSpPr>
        <p:spPr>
          <a:xfrm>
            <a:off x="985079" y="188640"/>
            <a:ext cx="10391700" cy="432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1530"/>
              <a:buNone/>
              <a:defRPr sz="1800" b="0" i="0" u="none" strike="noStrike">
                <a:solidFill>
                  <a:schemeClr val="dk1"/>
                </a:solidFill>
                <a:latin typeface="Times"/>
                <a:ea typeface="Times"/>
                <a:cs typeface="Times"/>
                <a:sym typeface="Times"/>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8" name="Google Shape;68;g271dc8c5e98_0_199"/>
          <p:cNvSpPr txBox="1">
            <a:spLocks noGrp="1"/>
          </p:cNvSpPr>
          <p:nvPr>
            <p:ph type="body" idx="3"/>
          </p:nvPr>
        </p:nvSpPr>
        <p:spPr>
          <a:xfrm>
            <a:off x="3887755" y="4149080"/>
            <a:ext cx="4032300" cy="720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580"/>
              </a:spcBef>
              <a:spcAft>
                <a:spcPts val="0"/>
              </a:spcAft>
              <a:buSzPts val="1700"/>
              <a:buNone/>
              <a:defRPr sz="2000">
                <a:solidFill>
                  <a:schemeClr val="dk1"/>
                </a:solidFill>
                <a:latin typeface="Times"/>
                <a:ea typeface="Times"/>
                <a:cs typeface="Times"/>
                <a:sym typeface="Times"/>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69"/>
        <p:cNvGrpSpPr/>
        <p:nvPr/>
      </p:nvGrpSpPr>
      <p:grpSpPr>
        <a:xfrm>
          <a:off x="0" y="0"/>
          <a:ext cx="0" cy="0"/>
          <a:chOff x="0" y="0"/>
          <a:chExt cx="0" cy="0"/>
        </a:xfrm>
      </p:grpSpPr>
      <p:sp>
        <p:nvSpPr>
          <p:cNvPr id="70" name="Google Shape;70;p3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0"/>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72"/>
        <p:cNvGrpSpPr/>
        <p:nvPr/>
      </p:nvGrpSpPr>
      <p:grpSpPr>
        <a:xfrm>
          <a:off x="0" y="0"/>
          <a:ext cx="0" cy="0"/>
          <a:chOff x="0" y="0"/>
          <a:chExt cx="0" cy="0"/>
        </a:xfrm>
      </p:grpSpPr>
      <p:sp>
        <p:nvSpPr>
          <p:cNvPr id="73" name="Google Shape;73;p3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75"/>
        <p:cNvGrpSpPr/>
        <p:nvPr/>
      </p:nvGrpSpPr>
      <p:grpSpPr>
        <a:xfrm>
          <a:off x="0" y="0"/>
          <a:ext cx="0" cy="0"/>
          <a:chOff x="0" y="0"/>
          <a:chExt cx="0" cy="0"/>
        </a:xfrm>
      </p:grpSpPr>
      <p:sp>
        <p:nvSpPr>
          <p:cNvPr id="76" name="Google Shape;76;p3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2"/>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3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81"/>
        <p:cNvGrpSpPr/>
        <p:nvPr/>
      </p:nvGrpSpPr>
      <p:grpSpPr>
        <a:xfrm>
          <a:off x="0" y="0"/>
          <a:ext cx="0" cy="0"/>
          <a:chOff x="0" y="0"/>
          <a:chExt cx="0" cy="0"/>
        </a:xfrm>
      </p:grpSpPr>
      <p:sp>
        <p:nvSpPr>
          <p:cNvPr id="82" name="Google Shape;82;p34"/>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83"/>
        <p:cNvGrpSpPr/>
        <p:nvPr/>
      </p:nvGrpSpPr>
      <p:grpSpPr>
        <a:xfrm>
          <a:off x="0" y="0"/>
          <a:ext cx="0" cy="0"/>
          <a:chOff x="0" y="0"/>
          <a:chExt cx="0" cy="0"/>
        </a:xfrm>
      </p:grpSpPr>
      <p:sp>
        <p:nvSpPr>
          <p:cNvPr id="84" name="Google Shape;84;p3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35"/>
          <p:cNvSpPr txBox="1">
            <a:spLocks noGrp="1"/>
          </p:cNvSpPr>
          <p:nvPr>
            <p:ph type="body" idx="2"/>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5"/>
          <p:cNvSpPr txBox="1">
            <a:spLocks noGrp="1"/>
          </p:cNvSpPr>
          <p:nvPr>
            <p:ph type="body" idx="3"/>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88"/>
        <p:cNvGrpSpPr/>
        <p:nvPr/>
      </p:nvGrpSpPr>
      <p:grpSpPr>
        <a:xfrm>
          <a:off x="0" y="0"/>
          <a:ext cx="0" cy="0"/>
          <a:chOff x="0" y="0"/>
          <a:chExt cx="0" cy="0"/>
        </a:xfrm>
      </p:grpSpPr>
      <p:sp>
        <p:nvSpPr>
          <p:cNvPr id="89" name="Google Shape;89;p3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6"/>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3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36"/>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93"/>
        <p:cNvGrpSpPr/>
        <p:nvPr/>
      </p:nvGrpSpPr>
      <p:grpSpPr>
        <a:xfrm>
          <a:off x="0" y="0"/>
          <a:ext cx="0" cy="0"/>
          <a:chOff x="0" y="0"/>
          <a:chExt cx="0" cy="0"/>
        </a:xfrm>
      </p:grpSpPr>
      <p:sp>
        <p:nvSpPr>
          <p:cNvPr id="94" name="Google Shape;94;p3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7"/>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37"/>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37"/>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98"/>
        <p:cNvGrpSpPr/>
        <p:nvPr/>
      </p:nvGrpSpPr>
      <p:grpSpPr>
        <a:xfrm>
          <a:off x="0" y="0"/>
          <a:ext cx="0" cy="0"/>
          <a:chOff x="0" y="0"/>
          <a:chExt cx="0" cy="0"/>
        </a:xfrm>
      </p:grpSpPr>
      <p:sp>
        <p:nvSpPr>
          <p:cNvPr id="99" name="Google Shape;99;p3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38"/>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38"/>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02"/>
        <p:cNvGrpSpPr/>
        <p:nvPr/>
      </p:nvGrpSpPr>
      <p:grpSpPr>
        <a:xfrm>
          <a:off x="0" y="0"/>
          <a:ext cx="0" cy="0"/>
          <a:chOff x="0" y="0"/>
          <a:chExt cx="0" cy="0"/>
        </a:xfrm>
      </p:grpSpPr>
      <p:sp>
        <p:nvSpPr>
          <p:cNvPr id="103" name="Google Shape;103;p3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39"/>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9"/>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9"/>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9"/>
          <p:cNvSpPr txBox="1">
            <a:spLocks noGrp="1"/>
          </p:cNvSpPr>
          <p:nvPr>
            <p:ph type="body" idx="4"/>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08"/>
        <p:cNvGrpSpPr/>
        <p:nvPr/>
      </p:nvGrpSpPr>
      <p:grpSpPr>
        <a:xfrm>
          <a:off x="0" y="0"/>
          <a:ext cx="0" cy="0"/>
          <a:chOff x="0" y="0"/>
          <a:chExt cx="0" cy="0"/>
        </a:xfrm>
      </p:grpSpPr>
      <p:sp>
        <p:nvSpPr>
          <p:cNvPr id="109" name="Google Shape;109;p4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0"/>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40"/>
          <p:cNvSpPr txBox="1">
            <a:spLocks noGrp="1"/>
          </p:cNvSpPr>
          <p:nvPr>
            <p:ph type="body" idx="2"/>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12" name="Google Shape;112;p40"/>
          <p:cNvPicPr preferRelativeResize="0"/>
          <p:nvPr/>
        </p:nvPicPr>
        <p:blipFill rotWithShape="1">
          <a:blip r:embed="rId2">
            <a:alphaModFix/>
          </a:blip>
          <a:srcRect/>
          <a:stretch/>
        </p:blipFill>
        <p:spPr>
          <a:xfrm>
            <a:off x="3602880" y="1604520"/>
            <a:ext cx="4984920" cy="3977280"/>
          </a:xfrm>
          <a:prstGeom prst="rect">
            <a:avLst/>
          </a:prstGeom>
          <a:noFill/>
          <a:ln>
            <a:noFill/>
          </a:ln>
        </p:spPr>
      </p:pic>
      <p:pic>
        <p:nvPicPr>
          <p:cNvPr id="113" name="Google Shape;113;p40"/>
          <p:cNvPicPr preferRelativeResize="0"/>
          <p:nvPr/>
        </p:nvPicPr>
        <p:blipFill rotWithShape="1">
          <a:blip r:embed="rId2">
            <a:alphaModFix/>
          </a:blip>
          <a:srcRect/>
          <a:stretch/>
        </p:blipFill>
        <p:spPr>
          <a:xfrm>
            <a:off x="3602880" y="1604520"/>
            <a:ext cx="4984920" cy="39772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5"/>
          <p:cNvSpPr/>
          <p:nvPr/>
        </p:nvSpPr>
        <p:spPr>
          <a:xfrm>
            <a:off x="0" y="0"/>
            <a:ext cx="12190680" cy="685656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7;p15"/>
          <p:cNvSpPr/>
          <p:nvPr/>
        </p:nvSpPr>
        <p:spPr>
          <a:xfrm>
            <a:off x="85320" y="69840"/>
            <a:ext cx="12016440" cy="6692040"/>
          </a:xfrm>
          <a:prstGeom prst="roundRect">
            <a:avLst>
              <a:gd name="adj" fmla="val 4929"/>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8;p1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5"/>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p17"/>
          <p:cNvSpPr/>
          <p:nvPr/>
        </p:nvSpPr>
        <p:spPr>
          <a:xfrm>
            <a:off x="0" y="0"/>
            <a:ext cx="12190680" cy="685656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7"/>
          <p:cNvSpPr/>
          <p:nvPr/>
        </p:nvSpPr>
        <p:spPr>
          <a:xfrm>
            <a:off x="85320" y="69840"/>
            <a:ext cx="12016440" cy="6692040"/>
          </a:xfrm>
          <a:prstGeom prst="roundRect">
            <a:avLst>
              <a:gd name="adj" fmla="val 4929"/>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7"/>
          <p:cNvSpPr/>
          <p:nvPr/>
        </p:nvSpPr>
        <p:spPr>
          <a:xfrm>
            <a:off x="239400" y="6283440"/>
            <a:ext cx="455760" cy="3650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Libre Baskerville"/>
                <a:ea typeface="Libre Baskerville"/>
                <a:cs typeface="Libre Baskerville"/>
                <a:sym typeface="Libre Baskerville"/>
              </a:rPr>
              <a:t>‹#›</a:t>
            </a:fld>
            <a:endParaRPr sz="1800" b="0" i="0" u="none" strike="noStrike" cap="none">
              <a:solidFill>
                <a:srgbClr val="000000"/>
              </a:solidFill>
              <a:latin typeface="Arial"/>
              <a:ea typeface="Arial"/>
              <a:cs typeface="Arial"/>
              <a:sym typeface="Arial"/>
            </a:endParaRPr>
          </a:p>
        </p:txBody>
      </p:sp>
      <p:sp>
        <p:nvSpPr>
          <p:cNvPr id="60" name="Google Shape;60;p1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p17"/>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marR="0" lvl="0" indent="-406400" algn="l" rtl="0">
              <a:lnSpc>
                <a:spcPct val="115000"/>
              </a:lnSpc>
              <a:spcBef>
                <a:spcPts val="1000"/>
              </a:spcBef>
              <a:spcAft>
                <a:spcPts val="0"/>
              </a:spcAft>
              <a:buClr>
                <a:srgbClr val="D34817"/>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5000"/>
              </a:lnSpc>
              <a:spcBef>
                <a:spcPts val="500"/>
              </a:spcBef>
              <a:spcAft>
                <a:spcPts val="0"/>
              </a:spcAft>
              <a:buClr>
                <a:srgbClr val="D34817"/>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5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Y-N1O0qltVtYMq95CAzJ1s-y-NM0qd_O/view?usp=sharing"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pdf/2105.05233"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006.11239"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hyperlink" Target="https://github.com/huggingface/diffusion-models-class"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
          <p:cNvSpPr/>
          <p:nvPr/>
        </p:nvSpPr>
        <p:spPr>
          <a:xfrm>
            <a:off x="1331688" y="1810825"/>
            <a:ext cx="9528600" cy="1468500"/>
          </a:xfrm>
          <a:prstGeom prst="rect">
            <a:avLst/>
          </a:prstGeom>
          <a:noFill/>
          <a:ln>
            <a:noFill/>
          </a:ln>
        </p:spPr>
        <p:txBody>
          <a:bodyPr spcFirstLastPara="1" wrap="square" lIns="90000" tIns="45000" rIns="90000" bIns="91425" anchor="b"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200" b="1" i="0" u="none" strike="noStrike" cap="none" dirty="0">
                <a:solidFill>
                  <a:srgbClr val="0070C0"/>
                </a:solidFill>
                <a:latin typeface="Calibri"/>
                <a:ea typeface="Calibri"/>
                <a:cs typeface="Calibri"/>
                <a:sym typeface="Calibri"/>
              </a:rPr>
              <a:t>NYCU 2026 Spring DL Lab6</a:t>
            </a:r>
            <a:endParaRPr sz="32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US" sz="4000" b="1" i="0" u="none" strike="noStrike" cap="none" dirty="0">
                <a:solidFill>
                  <a:srgbClr val="0070C0"/>
                </a:solidFill>
                <a:latin typeface="Calibri"/>
                <a:ea typeface="Calibri"/>
                <a:cs typeface="Calibri"/>
                <a:sym typeface="Calibri"/>
              </a:rPr>
              <a:t>Generative Models</a:t>
            </a:r>
            <a:endParaRPr sz="2200" b="0" i="0" u="none" strike="noStrike" cap="none" dirty="0">
              <a:solidFill>
                <a:srgbClr val="000000"/>
              </a:solidFill>
              <a:latin typeface="Arial"/>
              <a:ea typeface="Arial"/>
              <a:cs typeface="Arial"/>
              <a:sym typeface="Arial"/>
            </a:endParaRPr>
          </a:p>
        </p:txBody>
      </p:sp>
      <p:sp>
        <p:nvSpPr>
          <p:cNvPr id="120" name="Google Shape;120;p1"/>
          <p:cNvSpPr/>
          <p:nvPr/>
        </p:nvSpPr>
        <p:spPr>
          <a:xfrm>
            <a:off x="2644343" y="3615115"/>
            <a:ext cx="6903300" cy="5874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TA 楊</a:t>
            </a:r>
            <a:r>
              <a:rPr lang="zh-TW" altLang="en-US" sz="2400" b="0" i="0" u="none" strike="noStrike" cap="none" dirty="0">
                <a:solidFill>
                  <a:srgbClr val="000000"/>
                </a:solidFill>
                <a:latin typeface="Calibri"/>
                <a:ea typeface="Calibri"/>
                <a:cs typeface="Calibri"/>
                <a:sym typeface="Calibri"/>
              </a:rPr>
              <a:t>成偉 </a:t>
            </a:r>
            <a:r>
              <a:rPr lang="en-US" altLang="zh-TW" sz="2400" b="0" i="0" u="none" strike="noStrike" cap="none" dirty="0">
                <a:solidFill>
                  <a:srgbClr val="000000"/>
                </a:solidFill>
                <a:latin typeface="Calibri"/>
                <a:ea typeface="Calibri"/>
                <a:cs typeface="Calibri"/>
                <a:sym typeface="Calibri"/>
              </a:rPr>
              <a:t>(Cheng-Wei Yang)</a:t>
            </a:r>
            <a:endParaRPr sz="1800" b="0" i="0" u="none" strike="noStrike" cap="none" dirty="0">
              <a:solidFill>
                <a:srgbClr val="000000"/>
              </a:solidFill>
              <a:latin typeface="Arial"/>
              <a:ea typeface="Arial"/>
              <a:cs typeface="Arial"/>
              <a:sym typeface="Arial"/>
            </a:endParaRPr>
          </a:p>
        </p:txBody>
      </p:sp>
      <p:sp>
        <p:nvSpPr>
          <p:cNvPr id="121" name="Google Shape;121;p1"/>
          <p:cNvSpPr/>
          <p:nvPr/>
        </p:nvSpPr>
        <p:spPr>
          <a:xfrm>
            <a:off x="984960" y="188640"/>
            <a:ext cx="10389960" cy="43056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p:nvPr/>
        </p:nvSpPr>
        <p:spPr>
          <a:xfrm>
            <a:off x="4619880" y="5445360"/>
            <a:ext cx="3022920" cy="71928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Times New Roman"/>
                <a:ea typeface="Times New Roman"/>
                <a:cs typeface="Times New Roman"/>
                <a:sym typeface="Times New Roman"/>
              </a:rPr>
              <a:t>Apr </a:t>
            </a:r>
            <a:r>
              <a:rPr lang="en-US" sz="2000" dirty="0">
                <a:latin typeface="Times New Roman"/>
                <a:ea typeface="Times New Roman"/>
                <a:cs typeface="Times New Roman"/>
                <a:sym typeface="Times New Roman"/>
              </a:rPr>
              <a:t>28</a:t>
            </a:r>
            <a:r>
              <a:rPr lang="en-US" sz="2000" b="0" i="0" u="none" strike="noStrike" cap="none" dirty="0">
                <a:solidFill>
                  <a:srgbClr val="000000"/>
                </a:solidFill>
                <a:latin typeface="Times New Roman"/>
                <a:ea typeface="Times New Roman"/>
                <a:cs typeface="Times New Roman"/>
                <a:sym typeface="Times New Roman"/>
              </a:rPr>
              <a:t>, 2026</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70C0"/>
                </a:solidFill>
                <a:latin typeface="Calibri"/>
                <a:ea typeface="Calibri"/>
                <a:cs typeface="Calibri"/>
                <a:sym typeface="Calibri"/>
              </a:rPr>
              <a:t>Outline</a:t>
            </a:r>
            <a:endParaRPr sz="1800" b="0" i="0" u="none" strike="noStrike" cap="none">
              <a:solidFill>
                <a:srgbClr val="000000"/>
              </a:solidFill>
              <a:latin typeface="Arial"/>
              <a:ea typeface="Arial"/>
              <a:cs typeface="Arial"/>
              <a:sym typeface="Arial"/>
            </a:endParaRPr>
          </a:p>
        </p:txBody>
      </p:sp>
      <p:sp>
        <p:nvSpPr>
          <p:cNvPr id="129" name="Google Shape;129;p2"/>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Rule</a:t>
            </a: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Lab description</a:t>
            </a:r>
            <a:endParaRPr sz="2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Model design guide</a:t>
            </a:r>
            <a:endParaRPr sz="28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Scoring criteria</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27589" marR="0" lvl="0" indent="-158748"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27589" marR="0" lvl="0" indent="-158748"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4"/>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Rule</a:t>
            </a:r>
            <a:endParaRPr sz="1800" b="0" i="0" u="none" strike="noStrike" cap="none">
              <a:solidFill>
                <a:srgbClr val="000000"/>
              </a:solidFill>
              <a:latin typeface="Arial"/>
              <a:ea typeface="Arial"/>
              <a:cs typeface="Arial"/>
              <a:sym typeface="Arial"/>
            </a:endParaRPr>
          </a:p>
        </p:txBody>
      </p:sp>
      <p:sp>
        <p:nvSpPr>
          <p:cNvPr id="135" name="Google Shape;135;p4"/>
          <p:cNvSpPr/>
          <p:nvPr/>
        </p:nvSpPr>
        <p:spPr>
          <a:xfrm>
            <a:off x="1219320" y="1447920"/>
            <a:ext cx="10361880" cy="520272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000000"/>
                </a:solidFill>
                <a:latin typeface="Calibri"/>
                <a:ea typeface="Calibri"/>
                <a:cs typeface="Calibri"/>
                <a:sym typeface="Calibri"/>
              </a:rPr>
              <a:t>Report</a:t>
            </a:r>
            <a:r>
              <a:rPr lang="en-US" sz="2600" b="0" i="0" u="none" strike="noStrike" cap="none" dirty="0">
                <a:solidFill>
                  <a:schemeClr val="dk1"/>
                </a:solidFill>
                <a:latin typeface="Calibri"/>
                <a:ea typeface="Calibri"/>
                <a:cs typeface="Calibri"/>
                <a:sym typeface="Calibri"/>
              </a:rPr>
              <a:t> submission deadline: </a:t>
            </a:r>
            <a:r>
              <a:rPr lang="en-US" sz="2600" b="0" i="0" u="none" strike="noStrike" cap="none" dirty="0">
                <a:solidFill>
                  <a:srgbClr val="FF0000"/>
                </a:solidFill>
                <a:latin typeface="Calibri"/>
                <a:ea typeface="Calibri"/>
                <a:cs typeface="Calibri"/>
                <a:sym typeface="Calibri"/>
              </a:rPr>
              <a:t> </a:t>
            </a:r>
            <a:r>
              <a:rPr lang="en-US" sz="2600" dirty="0">
                <a:solidFill>
                  <a:srgbClr val="FF0000"/>
                </a:solidFill>
                <a:latin typeface="Calibri"/>
                <a:ea typeface="Calibri"/>
                <a:cs typeface="Calibri"/>
                <a:sym typeface="Calibri"/>
              </a:rPr>
              <a:t>May</a:t>
            </a:r>
            <a:r>
              <a:rPr lang="en-US" sz="2600" b="0" i="0" u="none" strike="noStrike" cap="none" dirty="0">
                <a:solidFill>
                  <a:srgbClr val="FF0000"/>
                </a:solidFill>
                <a:latin typeface="Calibri"/>
                <a:ea typeface="Calibri"/>
                <a:cs typeface="Calibri"/>
                <a:sym typeface="Calibri"/>
              </a:rPr>
              <a:t> </a:t>
            </a:r>
            <a:r>
              <a:rPr lang="en-US" sz="2600" dirty="0">
                <a:solidFill>
                  <a:srgbClr val="FF0000"/>
                </a:solidFill>
                <a:latin typeface="Calibri"/>
                <a:ea typeface="Calibri"/>
                <a:cs typeface="Calibri"/>
                <a:sym typeface="Calibri"/>
              </a:rPr>
              <a:t>12</a:t>
            </a:r>
            <a:r>
              <a:rPr lang="en-US" sz="2600" b="0" i="0" u="none" strike="noStrike" cap="none" dirty="0">
                <a:solidFill>
                  <a:srgbClr val="FF0000"/>
                </a:solidFill>
                <a:latin typeface="Calibri"/>
                <a:ea typeface="Calibri"/>
                <a:cs typeface="Calibri"/>
                <a:sym typeface="Calibri"/>
              </a:rPr>
              <a:t>, 2026, 11:59 p.m.</a:t>
            </a:r>
            <a:endParaRPr sz="2600" b="0" i="0" u="none" strike="noStrike" cap="none" dirty="0">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chemeClr val="dk1"/>
                </a:solidFill>
                <a:latin typeface="Calibri"/>
                <a:ea typeface="Calibri"/>
                <a:cs typeface="Calibri"/>
                <a:sym typeface="Calibri"/>
              </a:rPr>
              <a:t>No need to demo this lab</a:t>
            </a:r>
            <a:endParaRPr sz="2600" b="0" i="0" u="none" strike="noStrike" cap="none" dirty="0">
              <a:solidFill>
                <a:schemeClr val="dk1"/>
              </a:solidFill>
              <a:latin typeface="Calibri"/>
              <a:ea typeface="Calibri"/>
              <a:cs typeface="Calibri"/>
              <a:sym typeface="Calibri"/>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000000"/>
                </a:solidFill>
                <a:latin typeface="Calibri"/>
                <a:ea typeface="Calibri"/>
                <a:cs typeface="Calibri"/>
                <a:sym typeface="Calibri"/>
              </a:rPr>
              <a:t>Zip all files in one file (Please do </a:t>
            </a:r>
            <a:r>
              <a:rPr lang="en-US" sz="2600" b="0" i="0" u="none" strike="noStrike" cap="none" dirty="0">
                <a:solidFill>
                  <a:srgbClr val="FF0000"/>
                </a:solidFill>
                <a:latin typeface="Calibri"/>
                <a:ea typeface="Calibri"/>
                <a:cs typeface="Calibri"/>
                <a:sym typeface="Calibri"/>
              </a:rPr>
              <a:t>not upload dataset</a:t>
            </a:r>
            <a:r>
              <a:rPr lang="en-US" sz="2600" b="0" i="0" u="none" strike="noStrike" cap="none" dirty="0">
                <a:solidFill>
                  <a:srgbClr val="000000"/>
                </a:solidFill>
                <a:latin typeface="Calibri"/>
                <a:ea typeface="Calibri"/>
                <a:cs typeface="Calibri"/>
                <a:sym typeface="Calibri"/>
              </a:rPr>
              <a:t>)</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Report (.pdf)</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Source code</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images Folders -|--  test  </a:t>
            </a:r>
            <a:endParaRPr sz="2400" b="0" i="0" u="none" strike="noStrike" cap="none" dirty="0">
              <a:solidFill>
                <a:srgbClr val="00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		</a:t>
            </a:r>
            <a:r>
              <a:rPr lang="en-US" sz="2400" dirty="0">
                <a:latin typeface="Calibri"/>
                <a:ea typeface="Calibri"/>
                <a:cs typeface="Calibri"/>
                <a:sym typeface="Calibri"/>
              </a:rPr>
              <a:t>   </a:t>
            </a:r>
            <a:r>
              <a:rPr lang="en-US" sz="2400" b="0" i="0" u="none" strike="noStrike" cap="none" dirty="0">
                <a:solidFill>
                  <a:srgbClr val="000000"/>
                </a:solidFill>
                <a:latin typeface="Calibri"/>
                <a:ea typeface="Calibri"/>
                <a:cs typeface="Calibri"/>
                <a:sym typeface="Calibri"/>
              </a:rPr>
              <a:t>|-- </a:t>
            </a:r>
            <a:r>
              <a:rPr lang="en-US" sz="2400" b="0" i="0" u="none" strike="noStrike" cap="none" dirty="0" err="1">
                <a:solidFill>
                  <a:srgbClr val="000000"/>
                </a:solidFill>
                <a:latin typeface="Calibri"/>
                <a:ea typeface="Calibri"/>
                <a:cs typeface="Calibri"/>
                <a:sym typeface="Calibri"/>
              </a:rPr>
              <a:t>new_test</a:t>
            </a:r>
            <a:endParaRPr sz="2400" b="0" i="0" u="none" strike="noStrike" cap="none" dirty="0">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000000"/>
                </a:solidFill>
                <a:latin typeface="Calibri"/>
                <a:ea typeface="Calibri"/>
                <a:cs typeface="Calibri"/>
                <a:sym typeface="Calibri"/>
              </a:rPr>
              <a:t>Name it "DL_LAB6_YourStudentID_YourName.zip”</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Example:  “DL_LAB6_</a:t>
            </a:r>
            <a:r>
              <a:rPr lang="en-US" altLang="zh-TW" sz="2400" b="0" i="0" u="none" strike="noStrike" cap="none" dirty="0">
                <a:solidFill>
                  <a:srgbClr val="000000"/>
                </a:solidFill>
                <a:latin typeface="Calibri"/>
                <a:ea typeface="Calibri"/>
                <a:cs typeface="Calibri"/>
                <a:sym typeface="Calibri"/>
              </a:rPr>
              <a:t>1919810</a:t>
            </a:r>
            <a:r>
              <a:rPr lang="en-US" sz="2400" b="0" i="0" u="none" strike="noStrike" cap="none" dirty="0">
                <a:solidFill>
                  <a:srgbClr val="000000"/>
                </a:solidFill>
                <a:latin typeface="Calibri"/>
                <a:ea typeface="Calibri"/>
                <a:cs typeface="Calibri"/>
                <a:sym typeface="Calibri"/>
              </a:rPr>
              <a:t>_</a:t>
            </a:r>
            <a:r>
              <a:rPr lang="zh-TW" altLang="en-US" sz="2400" dirty="0">
                <a:latin typeface="Calibri"/>
                <a:ea typeface="Calibri"/>
                <a:cs typeface="Calibri"/>
                <a:sym typeface="Calibri"/>
              </a:rPr>
              <a:t>楊成偉</a:t>
            </a:r>
            <a:r>
              <a:rPr lang="en-US" sz="2400" b="0" i="0" u="none" strike="noStrike" cap="none" dirty="0">
                <a:solidFill>
                  <a:srgbClr val="000000"/>
                </a:solidFill>
                <a:latin typeface="Calibri"/>
                <a:ea typeface="Calibri"/>
                <a:cs typeface="Calibri"/>
                <a:sym typeface="Calibri"/>
              </a:rPr>
              <a:t>.zip”</a:t>
            </a:r>
            <a:endParaRPr sz="1800" b="0" i="0" u="none" strike="noStrike" cap="none" dirty="0">
              <a:solidFill>
                <a:srgbClr val="000000"/>
              </a:solidFill>
              <a:latin typeface="Arial"/>
              <a:ea typeface="Arial"/>
              <a:cs typeface="Arial"/>
              <a:sym typeface="Arial"/>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FF0000"/>
                </a:solidFill>
                <a:latin typeface="Calibri"/>
                <a:ea typeface="Calibri"/>
                <a:cs typeface="Calibri"/>
                <a:sym typeface="Calibri"/>
              </a:rPr>
              <a:t>-5% to your score</a:t>
            </a:r>
            <a:r>
              <a:rPr lang="en-US" sz="2600" b="0" i="0" u="none" strike="noStrike" cap="none" dirty="0">
                <a:solidFill>
                  <a:srgbClr val="000000"/>
                </a:solidFill>
                <a:latin typeface="Calibri"/>
                <a:ea typeface="Calibri"/>
                <a:cs typeface="Calibri"/>
                <a:sym typeface="Calibri"/>
              </a:rPr>
              <a:t> if </a:t>
            </a:r>
            <a:r>
              <a:rPr lang="en-US" sz="2600" b="0" i="0" u="none" strike="noStrike" cap="none" dirty="0" err="1">
                <a:solidFill>
                  <a:srgbClr val="000000"/>
                </a:solidFill>
                <a:latin typeface="Calibri"/>
                <a:ea typeface="Calibri"/>
                <a:cs typeface="Calibri"/>
                <a:sym typeface="Calibri"/>
              </a:rPr>
              <a:t>yu</a:t>
            </a:r>
            <a:r>
              <a:rPr lang="en-US" sz="2600" b="0" i="0" u="none" strike="noStrike" cap="none" dirty="0">
                <a:solidFill>
                  <a:srgbClr val="000000"/>
                </a:solidFill>
                <a:latin typeface="Calibri"/>
                <a:ea typeface="Calibri"/>
                <a:cs typeface="Calibri"/>
                <a:sym typeface="Calibri"/>
              </a:rPr>
              <a:t> do not follow the format</a:t>
            </a:r>
            <a:endParaRPr sz="1800" b="0" i="0" u="none" strike="noStrike" cap="none" dirty="0">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136" name="Google Shape;136;p4"/>
          <p:cNvPicPr preferRelativeResize="0"/>
          <p:nvPr/>
        </p:nvPicPr>
        <p:blipFill rotWithShape="1">
          <a:blip r:embed="rId3">
            <a:alphaModFix/>
          </a:blip>
          <a:srcRect/>
          <a:stretch/>
        </p:blipFill>
        <p:spPr>
          <a:xfrm>
            <a:off x="9919326" y="2123052"/>
            <a:ext cx="1591150" cy="2372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271dc8c5e98_0_295"/>
          <p:cNvSpPr txBox="1">
            <a:spLocks noGrp="1"/>
          </p:cNvSpPr>
          <p:nvPr>
            <p:ph type="ctrTitle"/>
          </p:nvPr>
        </p:nvSpPr>
        <p:spPr>
          <a:xfrm>
            <a:off x="239349" y="1988840"/>
            <a:ext cx="11809200" cy="14700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070C0"/>
              </a:buClr>
              <a:buSzPts val="3600"/>
              <a:buFont typeface="Calibri"/>
              <a:buNone/>
            </a:pPr>
            <a:r>
              <a:rPr lang="en-US" b="1">
                <a:solidFill>
                  <a:srgbClr val="0070C0"/>
                </a:solidFill>
                <a:latin typeface="Calibri"/>
                <a:ea typeface="Calibri"/>
                <a:cs typeface="Calibri"/>
                <a:sym typeface="Calibri"/>
              </a:rPr>
              <a:t>Lab description</a:t>
            </a:r>
            <a:endParaRPr b="1">
              <a:solidFill>
                <a:srgbClr val="0070C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Lab objective</a:t>
            </a:r>
            <a:endParaRPr sz="1800" b="0" i="0" u="none" strike="noStrike" cap="none">
              <a:solidFill>
                <a:srgbClr val="000000"/>
              </a:solidFill>
              <a:latin typeface="Arial"/>
              <a:ea typeface="Arial"/>
              <a:cs typeface="Arial"/>
              <a:sym typeface="Arial"/>
            </a:endParaRPr>
          </a:p>
        </p:txBody>
      </p:sp>
      <p:sp>
        <p:nvSpPr>
          <p:cNvPr id="148" name="Google Shape;148;p3"/>
          <p:cNvSpPr/>
          <p:nvPr/>
        </p:nvSpPr>
        <p:spPr>
          <a:xfrm>
            <a:off x="1219325" y="1447925"/>
            <a:ext cx="104853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You need to implement </a:t>
            </a:r>
            <a:r>
              <a:rPr lang="en-US" sz="2600" b="0" i="0" u="none" strike="noStrike" cap="none">
                <a:solidFill>
                  <a:srgbClr val="FF0000"/>
                </a:solidFill>
                <a:latin typeface="Calibri"/>
                <a:ea typeface="Calibri"/>
                <a:cs typeface="Calibri"/>
                <a:sym typeface="Calibri"/>
              </a:rPr>
              <a:t>a DDPM </a:t>
            </a:r>
            <a:r>
              <a:rPr lang="en-US" sz="2600" b="0" i="0" u="none" strike="noStrike" cap="none">
                <a:solidFill>
                  <a:srgbClr val="000000"/>
                </a:solidFill>
                <a:latin typeface="Calibri"/>
                <a:ea typeface="Calibri"/>
                <a:cs typeface="Calibri"/>
                <a:sym typeface="Calibri"/>
              </a:rPr>
              <a:t>to generate synthetic images according to multi-label conditions</a:t>
            </a:r>
            <a:endParaRPr sz="1800" b="0" i="0" u="none" strike="noStrike" cap="none">
              <a:solidFill>
                <a:srgbClr val="000000"/>
              </a:solidFill>
              <a:latin typeface="Arial"/>
              <a:ea typeface="Arial"/>
              <a:cs typeface="Arial"/>
              <a:sym typeface="Arial"/>
            </a:endParaRPr>
          </a:p>
        </p:txBody>
      </p:sp>
      <p:pic>
        <p:nvPicPr>
          <p:cNvPr id="149" name="Google Shape;149;p3"/>
          <p:cNvPicPr preferRelativeResize="0"/>
          <p:nvPr/>
        </p:nvPicPr>
        <p:blipFill rotWithShape="1">
          <a:blip r:embed="rId3">
            <a:alphaModFix/>
          </a:blip>
          <a:srcRect/>
          <a:stretch/>
        </p:blipFill>
        <p:spPr>
          <a:xfrm>
            <a:off x="5394826" y="2011875"/>
            <a:ext cx="3145100" cy="438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4df1959d47_0_6"/>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File Descriptions</a:t>
            </a:r>
            <a:endParaRPr sz="1800" b="0" i="0" u="none" strike="noStrike" cap="none">
              <a:solidFill>
                <a:srgbClr val="000000"/>
              </a:solidFill>
              <a:latin typeface="Arial"/>
              <a:ea typeface="Arial"/>
              <a:cs typeface="Arial"/>
              <a:sym typeface="Arial"/>
            </a:endParaRPr>
          </a:p>
        </p:txBody>
      </p:sp>
      <p:sp>
        <p:nvSpPr>
          <p:cNvPr id="155" name="Google Shape;155;g34df1959d47_0_6"/>
          <p:cNvSpPr/>
          <p:nvPr/>
        </p:nvSpPr>
        <p:spPr>
          <a:xfrm>
            <a:off x="1219325" y="1447925"/>
            <a:ext cx="104853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dirty="0">
                <a:solidFill>
                  <a:srgbClr val="000000"/>
                </a:solidFill>
                <a:latin typeface="Calibri"/>
                <a:ea typeface="Calibri"/>
                <a:cs typeface="Calibri"/>
                <a:sym typeface="Calibri"/>
              </a:rPr>
              <a:t>You can download </a:t>
            </a:r>
            <a:r>
              <a:rPr lang="en-US" sz="2600" b="0" i="0" u="none" strike="noStrike" cap="none" dirty="0" err="1">
                <a:solidFill>
                  <a:srgbClr val="000000"/>
                </a:solidFill>
                <a:latin typeface="Calibri"/>
                <a:ea typeface="Calibri"/>
                <a:cs typeface="Calibri"/>
                <a:sym typeface="Calibri"/>
              </a:rPr>
              <a:t>file.zip</a:t>
            </a:r>
            <a:r>
              <a:rPr lang="en-US" sz="2600" b="0" i="0" u="none" strike="noStrike" cap="none" dirty="0">
                <a:solidFill>
                  <a:srgbClr val="000000"/>
                </a:solidFill>
                <a:latin typeface="Calibri"/>
                <a:ea typeface="Calibri"/>
                <a:cs typeface="Calibri"/>
                <a:sym typeface="Calibri"/>
              </a:rPr>
              <a:t> from e3 or </a:t>
            </a:r>
            <a:r>
              <a:rPr lang="en-US" sz="2600" b="0" i="0" u="none" strike="noStrike" cap="none" dirty="0" err="1">
                <a:solidFill>
                  <a:srgbClr val="000000"/>
                </a:solidFill>
                <a:latin typeface="Calibri"/>
                <a:ea typeface="Calibri"/>
                <a:cs typeface="Calibri"/>
                <a:sym typeface="Calibri"/>
              </a:rPr>
              <a:t>ntu</a:t>
            </a:r>
            <a:r>
              <a:rPr lang="en-US" sz="2600" b="0" i="0" u="none" strike="noStrike" cap="none" dirty="0">
                <a:solidFill>
                  <a:srgbClr val="000000"/>
                </a:solidFill>
                <a:latin typeface="Calibri"/>
                <a:ea typeface="Calibri"/>
                <a:cs typeface="Calibri"/>
                <a:sym typeface="Calibri"/>
              </a:rPr>
              <a:t> cool, except </a:t>
            </a:r>
            <a:r>
              <a:rPr lang="en-US" sz="2600" b="0" i="0" u="none" strike="noStrike" cap="none" dirty="0" err="1">
                <a:solidFill>
                  <a:srgbClr val="000000"/>
                </a:solidFill>
                <a:latin typeface="Calibri"/>
                <a:ea typeface="Calibri"/>
                <a:cs typeface="Calibri"/>
                <a:sym typeface="Calibri"/>
              </a:rPr>
              <a:t>iclevr.zip</a:t>
            </a:r>
            <a:r>
              <a:rPr lang="en-US" sz="2600" b="0" i="0" u="none" strike="noStrike" cap="none" dirty="0">
                <a:solidFill>
                  <a:srgbClr val="000000"/>
                </a:solidFill>
                <a:latin typeface="Calibri"/>
                <a:ea typeface="Calibri"/>
                <a:cs typeface="Calibri"/>
                <a:sym typeface="Calibri"/>
              </a:rPr>
              <a:t>, from the open-source Google Drive (</a:t>
            </a:r>
            <a:r>
              <a:rPr lang="en-US" sz="2600" b="0" i="0" u="sng" strike="noStrike" cap="none" dirty="0">
                <a:solidFill>
                  <a:schemeClr val="hlink"/>
                </a:solidFill>
                <a:latin typeface="Calibri"/>
                <a:ea typeface="Calibri"/>
                <a:cs typeface="Calibri"/>
                <a:sym typeface="Calibri"/>
                <a:hlinkClick r:id="rId3"/>
              </a:rPr>
              <a:t>link</a:t>
            </a:r>
            <a:r>
              <a:rPr lang="en-US" sz="2600" b="0" i="0" u="none" strike="noStrike" cap="none" dirty="0">
                <a:solidFill>
                  <a:srgbClr val="000000"/>
                </a:solidFill>
                <a:latin typeface="Calibri"/>
                <a:ea typeface="Calibri"/>
                <a:cs typeface="Calibri"/>
                <a:sym typeface="Calibri"/>
              </a:rPr>
              <a:t>). </a:t>
            </a:r>
            <a:endParaRPr sz="2600" b="0" i="0" u="none" strike="noStrike" cap="none" dirty="0">
              <a:solidFill>
                <a:srgbClr val="000000"/>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dirty="0">
                <a:solidFill>
                  <a:srgbClr val="000000"/>
                </a:solidFill>
                <a:latin typeface="Calibri"/>
                <a:ea typeface="Calibri"/>
                <a:cs typeface="Calibri"/>
                <a:sym typeface="Calibri"/>
              </a:rPr>
              <a:t>There are 7 files in the </a:t>
            </a:r>
            <a:r>
              <a:rPr lang="en-US" sz="2600" b="0" i="0" u="none" strike="noStrike" cap="none" dirty="0" err="1">
                <a:solidFill>
                  <a:srgbClr val="000000"/>
                </a:solidFill>
                <a:latin typeface="Calibri"/>
                <a:ea typeface="Calibri"/>
                <a:cs typeface="Calibri"/>
                <a:sym typeface="Calibri"/>
              </a:rPr>
              <a:t>file.zip</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readme.txt</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train.json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test.json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new_test.json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object.json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evaluator.py</a:t>
            </a:r>
            <a:r>
              <a:rPr lang="en-US" sz="2600" b="0" i="0" u="none" strike="noStrike" cap="none" dirty="0">
                <a:solidFill>
                  <a:srgbClr val="000000"/>
                </a:solidFill>
                <a:latin typeface="Calibri"/>
                <a:ea typeface="Calibri"/>
                <a:cs typeface="Calibri"/>
                <a:sym typeface="Calibri"/>
              </a:rPr>
              <a:t>, and </a:t>
            </a:r>
            <a:r>
              <a:rPr lang="en-US" sz="2600" b="0" i="0" u="none" strike="noStrike" cap="none" dirty="0" err="1">
                <a:solidFill>
                  <a:srgbClr val="000000"/>
                </a:solidFill>
                <a:latin typeface="Calibri"/>
                <a:ea typeface="Calibri"/>
                <a:cs typeface="Calibri"/>
                <a:sym typeface="Calibri"/>
              </a:rPr>
              <a:t>checkpoint.pth</a:t>
            </a:r>
            <a:r>
              <a:rPr lang="en-US" sz="2600" b="0" i="0" u="none" strike="noStrike" cap="none" dirty="0">
                <a:solidFill>
                  <a:srgbClr val="000000"/>
                </a:solidFill>
                <a:latin typeface="Calibri"/>
                <a:ea typeface="Calibri"/>
                <a:cs typeface="Calibri"/>
                <a:sym typeface="Calibri"/>
              </a:rPr>
              <a:t>. All the details of the dataset are in the </a:t>
            </a:r>
            <a:r>
              <a:rPr lang="en-US" sz="2600" b="0" i="0" u="none" strike="noStrike" cap="none" dirty="0" err="1">
                <a:solidFill>
                  <a:srgbClr val="000000"/>
                </a:solidFill>
                <a:latin typeface="Calibri"/>
                <a:ea typeface="Calibri"/>
                <a:cs typeface="Calibri"/>
                <a:sym typeface="Calibri"/>
              </a:rPr>
              <a:t>readme.txt</a:t>
            </a:r>
            <a:r>
              <a:rPr lang="en-US" sz="2600" b="0" i="0" u="none" strike="noStrike" cap="none" dirty="0">
                <a:solidFill>
                  <a:srgbClr val="000000"/>
                </a:solidFill>
                <a:latin typeface="Calibri"/>
                <a:ea typeface="Calibri"/>
                <a:cs typeface="Calibri"/>
                <a:sym typeface="Calibri"/>
              </a:rPr>
              <a:t>. </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5"/>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Requirements</a:t>
            </a:r>
            <a:endParaRPr sz="1800" b="0" i="0" u="none" strike="noStrike" cap="none">
              <a:solidFill>
                <a:srgbClr val="000000"/>
              </a:solidFill>
              <a:latin typeface="Arial"/>
              <a:ea typeface="Arial"/>
              <a:cs typeface="Arial"/>
              <a:sym typeface="Arial"/>
            </a:endParaRPr>
          </a:p>
        </p:txBody>
      </p:sp>
      <p:sp>
        <p:nvSpPr>
          <p:cNvPr id="161" name="Google Shape;161;p5"/>
          <p:cNvSpPr/>
          <p:nvPr/>
        </p:nvSpPr>
        <p:spPr>
          <a:xfrm>
            <a:off x="1219257" y="1416255"/>
            <a:ext cx="10362000" cy="4600800"/>
          </a:xfrm>
          <a:prstGeom prst="rect">
            <a:avLst/>
          </a:prstGeom>
          <a:noFill/>
          <a:ln>
            <a:noFill/>
          </a:ln>
        </p:spPr>
        <p:txBody>
          <a:bodyPr spcFirstLastPara="1" wrap="square" lIns="90000" tIns="45000" rIns="90000" bIns="45000" anchor="t" anchorCtr="0">
            <a:noAutofit/>
          </a:bodyPr>
          <a:lstStyle/>
          <a:p>
            <a:pPr marL="457200" marR="0" lvl="0" indent="-406400" algn="l" rtl="0">
              <a:lnSpc>
                <a:spcPct val="115000"/>
              </a:lnSpc>
              <a:spcBef>
                <a:spcPts val="0"/>
              </a:spcBef>
              <a:spcAft>
                <a:spcPts val="0"/>
              </a:spcAft>
              <a:buClr>
                <a:srgbClr val="D34817"/>
              </a:buClr>
              <a:buSzPts val="2800"/>
              <a:buFont typeface="Calibri"/>
              <a:buChar char="●"/>
            </a:pPr>
            <a:r>
              <a:rPr lang="en-US" sz="2800" b="0" i="0" u="none" strike="noStrike" cap="none" dirty="0">
                <a:solidFill>
                  <a:srgbClr val="000000"/>
                </a:solidFill>
                <a:latin typeface="Calibri"/>
                <a:ea typeface="Calibri"/>
                <a:cs typeface="Calibri"/>
                <a:sym typeface="Calibri"/>
              </a:rPr>
              <a:t>Design and train your models</a:t>
            </a:r>
            <a:endParaRPr sz="28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Implement a conditional DDPM</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You can use </a:t>
            </a:r>
            <a:r>
              <a:rPr lang="en-US" sz="2400" b="0" i="0" u="none" strike="noStrike" cap="none" dirty="0">
                <a:solidFill>
                  <a:srgbClr val="FF0000"/>
                </a:solidFill>
                <a:latin typeface="Calibri"/>
                <a:ea typeface="Calibri"/>
                <a:cs typeface="Calibri"/>
                <a:sym typeface="Calibri"/>
              </a:rPr>
              <a:t>any architecture you like</a:t>
            </a:r>
            <a:endParaRPr sz="2400" b="0" i="0" u="none" strike="noStrike" cap="none" dirty="0">
              <a:solidFill>
                <a:srgbClr val="FF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chemeClr val="dk1"/>
                </a:solidFill>
                <a:latin typeface="Calibri"/>
                <a:ea typeface="Calibri"/>
                <a:cs typeface="Calibri"/>
                <a:sym typeface="Calibri"/>
              </a:rPr>
              <a:t>(</a:t>
            </a:r>
            <a:r>
              <a:rPr lang="en-US" sz="2400" b="0" i="0" u="none" strike="noStrike" cap="none" dirty="0">
                <a:solidFill>
                  <a:schemeClr val="dk1"/>
                </a:solidFill>
                <a:latin typeface="Times New Roman"/>
                <a:ea typeface="Times New Roman"/>
                <a:cs typeface="Times New Roman"/>
                <a:sym typeface="Times New Roman"/>
              </a:rPr>
              <a:t>Feel free to use any library that helps your work, but you need to mention the implementation details and include the reference in your report)</a:t>
            </a:r>
            <a:endParaRPr sz="2400" b="0" i="0" u="none" strike="noStrike" cap="none" dirty="0">
              <a:solidFill>
                <a:schemeClr val="dk1"/>
              </a:solidFill>
              <a:latin typeface="Calibri"/>
              <a:ea typeface="Calibri"/>
              <a:cs typeface="Calibri"/>
              <a:sym typeface="Calibri"/>
            </a:endParaRPr>
          </a:p>
          <a:p>
            <a:pPr marL="457200" marR="0" lvl="0" indent="-406400" algn="l" rtl="0">
              <a:lnSpc>
                <a:spcPct val="115000"/>
              </a:lnSpc>
              <a:spcBef>
                <a:spcPts val="0"/>
              </a:spcBef>
              <a:spcAft>
                <a:spcPts val="0"/>
              </a:spcAft>
              <a:buClr>
                <a:srgbClr val="D34817"/>
              </a:buClr>
              <a:buSzPts val="2800"/>
              <a:buFont typeface="Calibri"/>
              <a:buChar char="●"/>
            </a:pPr>
            <a:r>
              <a:rPr lang="en-US" sz="2800" b="0" i="0" u="none" strike="noStrike" cap="none" dirty="0">
                <a:solidFill>
                  <a:srgbClr val="000000"/>
                </a:solidFill>
                <a:latin typeface="Calibri"/>
                <a:ea typeface="Calibri"/>
                <a:cs typeface="Calibri"/>
                <a:sym typeface="Calibri"/>
              </a:rPr>
              <a:t>Synthesis image and evaluate the results</a:t>
            </a:r>
            <a:endParaRPr sz="28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Show the synthetic images in grids </a:t>
            </a:r>
            <a:r>
              <a:rPr lang="en-US" sz="2400" b="0" i="0" u="none" strike="noStrike" cap="none" dirty="0">
                <a:solidFill>
                  <a:srgbClr val="FF0000"/>
                </a:solidFill>
                <a:latin typeface="Calibri"/>
                <a:ea typeface="Calibri"/>
                <a:cs typeface="Calibri"/>
                <a:sym typeface="Calibri"/>
              </a:rPr>
              <a:t>(for </a:t>
            </a:r>
            <a:r>
              <a:rPr lang="en-US" sz="2400" b="0" i="0" u="none" strike="noStrike" cap="none" dirty="0" err="1">
                <a:solidFill>
                  <a:srgbClr val="FF0000"/>
                </a:solidFill>
                <a:latin typeface="Calibri"/>
                <a:ea typeface="Calibri"/>
                <a:cs typeface="Calibri"/>
                <a:sym typeface="Calibri"/>
              </a:rPr>
              <a:t>test.json</a:t>
            </a:r>
            <a:r>
              <a:rPr lang="en-US" sz="2400" b="0" i="0" u="none" strike="noStrike" cap="none" dirty="0">
                <a:solidFill>
                  <a:srgbClr val="FF0000"/>
                </a:solidFill>
                <a:latin typeface="Calibri"/>
                <a:ea typeface="Calibri"/>
                <a:cs typeface="Calibri"/>
                <a:sym typeface="Calibri"/>
              </a:rPr>
              <a:t>, </a:t>
            </a:r>
            <a:r>
              <a:rPr lang="en-US" sz="2400" b="0" i="0" u="none" strike="noStrike" cap="none" dirty="0" err="1">
                <a:solidFill>
                  <a:srgbClr val="FF0000"/>
                </a:solidFill>
                <a:latin typeface="Calibri"/>
                <a:ea typeface="Calibri"/>
                <a:cs typeface="Calibri"/>
                <a:sym typeface="Calibri"/>
              </a:rPr>
              <a:t>new_test.json</a:t>
            </a:r>
            <a:r>
              <a:rPr lang="en-US" sz="2400" b="0" i="0" u="none" strike="noStrike" cap="none" dirty="0">
                <a:solidFill>
                  <a:srgbClr val="FF0000"/>
                </a:solidFill>
                <a:latin typeface="Calibri"/>
                <a:ea typeface="Calibri"/>
                <a:cs typeface="Calibri"/>
                <a:sym typeface="Calibri"/>
              </a:rPr>
              <a:t>)</a:t>
            </a:r>
            <a:endParaRPr sz="2400" b="0" i="0" u="none" strike="noStrike" cap="none" dirty="0">
              <a:solidFill>
                <a:srgbClr val="FF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Show the denoising process in a grid for sampling from your DDPM </a:t>
            </a:r>
            <a:endParaRPr sz="2400" b="0" i="0" u="none" strike="noStrike" cap="none" dirty="0">
              <a:solidFill>
                <a:srgbClr val="00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rgbClr val="FF0000"/>
                </a:solidFill>
                <a:latin typeface="Calibri"/>
                <a:ea typeface="Calibri"/>
                <a:cs typeface="Calibri"/>
                <a:sym typeface="Calibri"/>
              </a:rPr>
              <a:t>(with the label set ["red sphere", "cyan cylinder", "cyan cube"])</a:t>
            </a:r>
            <a:endParaRPr sz="2400" b="0" i="0" u="none" strike="noStrike" cap="none" dirty="0">
              <a:solidFill>
                <a:srgbClr val="FF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Evaluate your model with the classification accuracies from the provided evaluator </a:t>
            </a:r>
            <a:r>
              <a:rPr lang="en-US" sz="2400" b="0" i="0" u="none" strike="noStrike" cap="none" dirty="0">
                <a:solidFill>
                  <a:srgbClr val="FF0000"/>
                </a:solidFill>
                <a:latin typeface="Calibri"/>
                <a:ea typeface="Calibri"/>
                <a:cs typeface="Calibri"/>
                <a:sym typeface="Calibri"/>
              </a:rPr>
              <a:t>(for </a:t>
            </a:r>
            <a:r>
              <a:rPr lang="en-US" sz="2400" b="0" i="0" u="none" strike="noStrike" cap="none" dirty="0" err="1">
                <a:solidFill>
                  <a:srgbClr val="FF0000"/>
                </a:solidFill>
                <a:latin typeface="Calibri"/>
                <a:ea typeface="Calibri"/>
                <a:cs typeface="Calibri"/>
                <a:sym typeface="Calibri"/>
              </a:rPr>
              <a:t>test.json</a:t>
            </a:r>
            <a:r>
              <a:rPr lang="en-US" sz="2400" b="0" i="0" u="none" strike="noStrike" cap="none" dirty="0">
                <a:solidFill>
                  <a:srgbClr val="FF0000"/>
                </a:solidFill>
                <a:latin typeface="Calibri"/>
                <a:ea typeface="Calibri"/>
                <a:cs typeface="Calibri"/>
                <a:sym typeface="Calibri"/>
              </a:rPr>
              <a:t>, </a:t>
            </a:r>
            <a:r>
              <a:rPr lang="en-US" sz="2400" b="0" i="0" u="none" strike="noStrike" cap="none" dirty="0" err="1">
                <a:solidFill>
                  <a:srgbClr val="FF0000"/>
                </a:solidFill>
                <a:latin typeface="Calibri"/>
                <a:ea typeface="Calibri"/>
                <a:cs typeface="Calibri"/>
                <a:sym typeface="Calibri"/>
              </a:rPr>
              <a:t>new_test.json</a:t>
            </a:r>
            <a:r>
              <a:rPr lang="en-US" sz="2400" b="0" i="0" u="none" strike="noStrike" cap="none" dirty="0">
                <a:solidFill>
                  <a:srgbClr val="FF0000"/>
                </a:solidFill>
                <a:latin typeface="Calibri"/>
                <a:ea typeface="Calibri"/>
                <a:cs typeface="Calibri"/>
                <a:sym typeface="Calibri"/>
              </a:rPr>
              <a:t>)</a:t>
            </a:r>
            <a:endParaRPr sz="2400" b="0" i="0" u="none" strike="noStrike" cap="none" dirty="0">
              <a:solidFill>
                <a:srgbClr val="FF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4df1959d47_0_13"/>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Requirements</a:t>
            </a:r>
            <a:endParaRPr sz="1800" b="0" i="0" u="none" strike="noStrike" cap="none">
              <a:solidFill>
                <a:srgbClr val="000000"/>
              </a:solidFill>
              <a:latin typeface="Arial"/>
              <a:ea typeface="Arial"/>
              <a:cs typeface="Arial"/>
              <a:sym typeface="Arial"/>
            </a:endParaRPr>
          </a:p>
        </p:txBody>
      </p:sp>
      <p:pic>
        <p:nvPicPr>
          <p:cNvPr id="167" name="Google Shape;167;g34df1959d47_0_13"/>
          <p:cNvPicPr preferRelativeResize="0"/>
          <p:nvPr/>
        </p:nvPicPr>
        <p:blipFill rotWithShape="1">
          <a:blip r:embed="rId3">
            <a:alphaModFix/>
          </a:blip>
          <a:srcRect/>
          <a:stretch/>
        </p:blipFill>
        <p:spPr>
          <a:xfrm>
            <a:off x="1506750" y="4336755"/>
            <a:ext cx="8877300" cy="885825"/>
          </a:xfrm>
          <a:prstGeom prst="rect">
            <a:avLst/>
          </a:prstGeom>
          <a:noFill/>
          <a:ln>
            <a:noFill/>
          </a:ln>
        </p:spPr>
      </p:pic>
      <p:sp>
        <p:nvSpPr>
          <p:cNvPr id="168" name="Google Shape;168;g34df1959d47_0_13"/>
          <p:cNvSpPr/>
          <p:nvPr/>
        </p:nvSpPr>
        <p:spPr>
          <a:xfrm>
            <a:off x="915007" y="1297155"/>
            <a:ext cx="10362000" cy="4600800"/>
          </a:xfrm>
          <a:prstGeom prst="rect">
            <a:avLst/>
          </a:prstGeom>
          <a:noFill/>
          <a:ln>
            <a:noFill/>
          </a:ln>
        </p:spPr>
        <p:txBody>
          <a:bodyPr spcFirstLastPara="1" wrap="square" lIns="90000" tIns="45000" rIns="90000" bIns="45000" anchor="t" anchorCtr="0">
            <a:noAutofit/>
          </a:bodyPr>
          <a:lstStyle/>
          <a:p>
            <a:pPr marL="457200" marR="0" lvl="0" indent="-406400" algn="l" rtl="0">
              <a:lnSpc>
                <a:spcPct val="115000"/>
              </a:lnSpc>
              <a:spcBef>
                <a:spcPts val="0"/>
              </a:spcBef>
              <a:spcAft>
                <a:spcPts val="0"/>
              </a:spcAft>
              <a:buClr>
                <a:srgbClr val="D34817"/>
              </a:buClr>
              <a:buSzPts val="2800"/>
              <a:buFont typeface="Calibri"/>
              <a:buChar char="●"/>
            </a:pPr>
            <a:r>
              <a:rPr lang="en-US" sz="2400" b="0" i="0" u="none" strike="noStrike" cap="none">
                <a:solidFill>
                  <a:schemeClr val="dk1"/>
                </a:solidFill>
                <a:latin typeface="Calibri"/>
                <a:ea typeface="Calibri"/>
                <a:cs typeface="Calibri"/>
                <a:sym typeface="Calibri"/>
              </a:rPr>
              <a:t>Synthetic images in grids</a:t>
            </a:r>
            <a:endParaRPr sz="2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57200" marR="0" lvl="0" indent="-406400" algn="l" rtl="0">
              <a:lnSpc>
                <a:spcPct val="115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Denoising process</a:t>
            </a:r>
            <a:endParaRPr sz="2400" b="0" i="0" u="none" strike="noStrike" cap="none">
              <a:solidFill>
                <a:srgbClr val="FF0000"/>
              </a:solidFill>
              <a:latin typeface="Calibri"/>
              <a:ea typeface="Calibri"/>
              <a:cs typeface="Calibri"/>
              <a:sym typeface="Calibri"/>
            </a:endParaRPr>
          </a:p>
        </p:txBody>
      </p:sp>
      <p:pic>
        <p:nvPicPr>
          <p:cNvPr id="169" name="Google Shape;169;g34df1959d47_0_13"/>
          <p:cNvPicPr preferRelativeResize="0"/>
          <p:nvPr/>
        </p:nvPicPr>
        <p:blipFill rotWithShape="1">
          <a:blip r:embed="rId4">
            <a:alphaModFix/>
          </a:blip>
          <a:srcRect/>
          <a:stretch/>
        </p:blipFill>
        <p:spPr>
          <a:xfrm>
            <a:off x="4820125" y="611001"/>
            <a:ext cx="6977775" cy="353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71dc8c5e98_0_212"/>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Dataset</a:t>
            </a:r>
            <a:endParaRPr sz="1800" b="0" i="0" u="none" strike="noStrike" cap="none">
              <a:solidFill>
                <a:srgbClr val="000000"/>
              </a:solidFill>
              <a:latin typeface="Arial"/>
              <a:ea typeface="Arial"/>
              <a:cs typeface="Arial"/>
              <a:sym typeface="Arial"/>
            </a:endParaRPr>
          </a:p>
        </p:txBody>
      </p:sp>
      <p:sp>
        <p:nvSpPr>
          <p:cNvPr id="175" name="Google Shape;175;g271dc8c5e98_0_212"/>
          <p:cNvSpPr/>
          <p:nvPr/>
        </p:nvSpPr>
        <p:spPr>
          <a:xfrm>
            <a:off x="1219325" y="1447926"/>
            <a:ext cx="10362000" cy="3331500"/>
          </a:xfrm>
          <a:prstGeom prst="rect">
            <a:avLst/>
          </a:prstGeom>
          <a:noFill/>
          <a:ln>
            <a:noFill/>
          </a:ln>
        </p:spPr>
        <p:txBody>
          <a:bodyPr spcFirstLastPara="1" wrap="square" lIns="90000" tIns="45000" rIns="90000" bIns="45000" anchor="t" anchorCtr="0">
            <a:noAutofit/>
          </a:bodyPr>
          <a:lstStyle/>
          <a:p>
            <a:pPr marL="457200" marR="0" lvl="0" indent="-381635" algn="l" rtl="0">
              <a:lnSpc>
                <a:spcPct val="115000"/>
              </a:lnSpc>
              <a:spcBef>
                <a:spcPts val="0"/>
              </a:spcBef>
              <a:spcAft>
                <a:spcPts val="0"/>
              </a:spcAft>
              <a:buClr>
                <a:srgbClr val="D34817"/>
              </a:buClr>
              <a:buSzPts val="2410"/>
              <a:buFont typeface="Calibri"/>
              <a:buChar char="●"/>
            </a:pPr>
            <a:r>
              <a:rPr lang="en-US" sz="2410" b="0" i="0" u="none" strike="noStrike" cap="none">
                <a:solidFill>
                  <a:srgbClr val="000000"/>
                </a:solidFill>
                <a:latin typeface="Calibri"/>
                <a:ea typeface="Calibri"/>
                <a:cs typeface="Calibri"/>
                <a:sym typeface="Calibri"/>
              </a:rPr>
              <a:t>Provided files</a:t>
            </a:r>
            <a:endParaRPr sz="1800" b="0" i="0" u="none" strike="noStrike" cap="none">
              <a:solidFill>
                <a:srgbClr val="000000"/>
              </a:solidFill>
              <a:latin typeface="Arial"/>
              <a:ea typeface="Arial"/>
              <a:cs typeface="Arial"/>
              <a:sym typeface="Arial"/>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rgbClr val="000000"/>
                </a:solidFill>
                <a:latin typeface="Calibri"/>
                <a:ea typeface="Calibri"/>
                <a:cs typeface="Calibri"/>
                <a:sym typeface="Calibri"/>
              </a:rPr>
              <a:t>readme.txt, train.json, test.json, new_</a:t>
            </a:r>
            <a:r>
              <a:rPr lang="en-US" sz="2220" b="0" i="0" u="none" strike="noStrike" cap="none">
                <a:solidFill>
                  <a:schemeClr val="dk1"/>
                </a:solidFill>
                <a:latin typeface="Calibri"/>
                <a:ea typeface="Calibri"/>
                <a:cs typeface="Calibri"/>
                <a:sym typeface="Calibri"/>
              </a:rPr>
              <a:t>test.json, </a:t>
            </a:r>
            <a:r>
              <a:rPr lang="en-US" sz="2220" b="0" i="0" u="none" strike="noStrike" cap="none">
                <a:solidFill>
                  <a:srgbClr val="000000"/>
                </a:solidFill>
                <a:latin typeface="Calibri"/>
                <a:ea typeface="Calibri"/>
                <a:cs typeface="Calibri"/>
                <a:sym typeface="Calibri"/>
              </a:rPr>
              <a:t>object.json, iclevr.zip</a:t>
            </a:r>
            <a:endParaRPr sz="1400" b="0" i="0" u="none" strike="noStrike" cap="none">
              <a:solidFill>
                <a:srgbClr val="000000"/>
              </a:solidFill>
              <a:latin typeface="Arial"/>
              <a:ea typeface="Arial"/>
              <a:cs typeface="Arial"/>
              <a:sym typeface="Arial"/>
            </a:endParaRPr>
          </a:p>
          <a:p>
            <a:pPr marL="457200" marR="0" lvl="0" indent="-381635" algn="l" rtl="0">
              <a:lnSpc>
                <a:spcPct val="115000"/>
              </a:lnSpc>
              <a:spcBef>
                <a:spcPts val="0"/>
              </a:spcBef>
              <a:spcAft>
                <a:spcPts val="0"/>
              </a:spcAft>
              <a:buClr>
                <a:srgbClr val="D34817"/>
              </a:buClr>
              <a:buSzPts val="2410"/>
              <a:buFont typeface="Calibri"/>
              <a:buChar char="●"/>
            </a:pPr>
            <a:r>
              <a:rPr lang="en-US" sz="2410" b="0" i="0" u="none" strike="noStrike" cap="none">
                <a:solidFill>
                  <a:srgbClr val="000000"/>
                </a:solidFill>
                <a:latin typeface="Calibri"/>
                <a:ea typeface="Calibri"/>
                <a:cs typeface="Calibri"/>
                <a:sym typeface="Calibri"/>
              </a:rPr>
              <a:t>object.json</a:t>
            </a:r>
            <a:endParaRPr sz="24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chemeClr val="dk1"/>
                </a:solidFill>
                <a:latin typeface="Calibri"/>
                <a:ea typeface="Calibri"/>
                <a:cs typeface="Calibri"/>
                <a:sym typeface="Calibri"/>
              </a:rPr>
              <a:t>Dictionary of objects</a:t>
            </a:r>
            <a:endParaRPr sz="1800" b="0" i="0" u="none" strike="noStrike" cap="none">
              <a:solidFill>
                <a:schemeClr val="dk1"/>
              </a:solidFill>
              <a:latin typeface="Arial"/>
              <a:ea typeface="Arial"/>
              <a:cs typeface="Arial"/>
              <a:sym typeface="Arial"/>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chemeClr val="dk1"/>
                </a:solidFill>
                <a:latin typeface="Calibri"/>
                <a:ea typeface="Calibri"/>
                <a:cs typeface="Calibri"/>
                <a:sym typeface="Calibri"/>
              </a:rPr>
              <a:t>24 classes</a:t>
            </a:r>
            <a:endParaRPr sz="241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D34817"/>
              </a:buClr>
              <a:buSzPts val="2600"/>
              <a:buFont typeface="Arial"/>
              <a:buChar char="●"/>
            </a:pPr>
            <a:r>
              <a:rPr lang="en-US" sz="2600" b="0" i="0" u="none" strike="noStrike" cap="none">
                <a:solidFill>
                  <a:schemeClr val="dk1"/>
                </a:solidFill>
                <a:latin typeface="Calibri"/>
                <a:ea typeface="Calibri"/>
                <a:cs typeface="Calibri"/>
                <a:sym typeface="Calibri"/>
              </a:rPr>
              <a:t>Example of labels: </a:t>
            </a:r>
            <a:endParaRPr sz="1800" b="0" i="0" u="none" strike="noStrike" cap="none">
              <a:solidFill>
                <a:schemeClr val="dk1"/>
              </a:solidFill>
              <a:latin typeface="Arial"/>
              <a:ea typeface="Arial"/>
              <a:cs typeface="Arial"/>
              <a:sym typeface="Arial"/>
            </a:endParaRPr>
          </a:p>
          <a:p>
            <a:pPr marL="914400" marR="0" lvl="1" indent="-368300" algn="l" rtl="0">
              <a:lnSpc>
                <a:spcPct val="115000"/>
              </a:lnSpc>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[“cyan cylinder”, “red cube”], [“green sphere”], …</a:t>
            </a:r>
            <a:endParaRPr sz="2200" b="0" i="0" u="none" strike="noStrike" cap="none">
              <a:solidFill>
                <a:schemeClr val="dk1"/>
              </a:solidFill>
              <a:latin typeface="Calibri"/>
              <a:ea typeface="Calibri"/>
              <a:cs typeface="Calibri"/>
              <a:sym typeface="Calibri"/>
            </a:endParaRPr>
          </a:p>
          <a:p>
            <a:pPr marL="914400" marR="0" lvl="1" indent="-368300" algn="l" rtl="0">
              <a:lnSpc>
                <a:spcPct val="115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The same object will not appear twice in an image</a:t>
            </a:r>
            <a:endParaRPr sz="2200" b="0" i="0" u="none" strike="noStrike" cap="none">
              <a:solidFill>
                <a:schemeClr val="dk1"/>
              </a:solidFill>
              <a:latin typeface="Calibri"/>
              <a:ea typeface="Calibri"/>
              <a:cs typeface="Calibri"/>
              <a:sym typeface="Calibri"/>
            </a:endParaRPr>
          </a:p>
        </p:txBody>
      </p:sp>
      <p:pic>
        <p:nvPicPr>
          <p:cNvPr id="176" name="Google Shape;176;g271dc8c5e98_0_212"/>
          <p:cNvPicPr preferRelativeResize="0"/>
          <p:nvPr/>
        </p:nvPicPr>
        <p:blipFill rotWithShape="1">
          <a:blip r:embed="rId3">
            <a:alphaModFix/>
          </a:blip>
          <a:srcRect/>
          <a:stretch/>
        </p:blipFill>
        <p:spPr>
          <a:xfrm>
            <a:off x="9679320" y="5041480"/>
            <a:ext cx="2045160" cy="1533600"/>
          </a:xfrm>
          <a:prstGeom prst="rect">
            <a:avLst/>
          </a:prstGeom>
          <a:noFill/>
          <a:ln>
            <a:noFill/>
          </a:ln>
        </p:spPr>
      </p:pic>
      <p:pic>
        <p:nvPicPr>
          <p:cNvPr id="177" name="Google Shape;177;g271dc8c5e98_0_212"/>
          <p:cNvPicPr preferRelativeResize="0"/>
          <p:nvPr/>
        </p:nvPicPr>
        <p:blipFill rotWithShape="1">
          <a:blip r:embed="rId4">
            <a:alphaModFix/>
          </a:blip>
          <a:srcRect/>
          <a:stretch/>
        </p:blipFill>
        <p:spPr>
          <a:xfrm>
            <a:off x="7404120" y="5039680"/>
            <a:ext cx="2055960" cy="1541520"/>
          </a:xfrm>
          <a:prstGeom prst="rect">
            <a:avLst/>
          </a:prstGeom>
          <a:noFill/>
          <a:ln>
            <a:noFill/>
          </a:ln>
        </p:spPr>
      </p:pic>
      <p:pic>
        <p:nvPicPr>
          <p:cNvPr id="178" name="Google Shape;178;g271dc8c5e98_0_212"/>
          <p:cNvPicPr preferRelativeResize="0"/>
          <p:nvPr/>
        </p:nvPicPr>
        <p:blipFill rotWithShape="1">
          <a:blip r:embed="rId5">
            <a:alphaModFix/>
          </a:blip>
          <a:srcRect/>
          <a:stretch/>
        </p:blipFill>
        <p:spPr>
          <a:xfrm>
            <a:off x="5128560" y="5039680"/>
            <a:ext cx="2055960" cy="1541520"/>
          </a:xfrm>
          <a:prstGeom prst="rect">
            <a:avLst/>
          </a:prstGeom>
          <a:noFill/>
          <a:ln>
            <a:noFill/>
          </a:ln>
        </p:spPr>
      </p:pic>
      <p:pic>
        <p:nvPicPr>
          <p:cNvPr id="179" name="Google Shape;179;g271dc8c5e98_0_212"/>
          <p:cNvPicPr preferRelativeResize="0"/>
          <p:nvPr/>
        </p:nvPicPr>
        <p:blipFill rotWithShape="1">
          <a:blip r:embed="rId6">
            <a:alphaModFix/>
          </a:blip>
          <a:srcRect/>
          <a:stretch/>
        </p:blipFill>
        <p:spPr>
          <a:xfrm>
            <a:off x="2861280" y="5039680"/>
            <a:ext cx="2047680" cy="1535400"/>
          </a:xfrm>
          <a:prstGeom prst="rect">
            <a:avLst/>
          </a:prstGeom>
          <a:noFill/>
          <a:ln>
            <a:noFill/>
          </a:ln>
        </p:spPr>
      </p:pic>
      <p:pic>
        <p:nvPicPr>
          <p:cNvPr id="180" name="Google Shape;180;g271dc8c5e98_0_212"/>
          <p:cNvPicPr preferRelativeResize="0"/>
          <p:nvPr/>
        </p:nvPicPr>
        <p:blipFill rotWithShape="1">
          <a:blip r:embed="rId7">
            <a:alphaModFix/>
          </a:blip>
          <a:srcRect/>
          <a:stretch/>
        </p:blipFill>
        <p:spPr>
          <a:xfrm>
            <a:off x="527040" y="5039680"/>
            <a:ext cx="2047680" cy="1535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271dc8c5e98_0_223"/>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Pretrained evaluator</a:t>
            </a:r>
            <a:endParaRPr sz="1800" b="0" i="0" u="none" strike="noStrike" cap="none">
              <a:solidFill>
                <a:srgbClr val="000000"/>
              </a:solidFill>
              <a:latin typeface="Arial"/>
              <a:ea typeface="Arial"/>
              <a:cs typeface="Arial"/>
              <a:sym typeface="Arial"/>
            </a:endParaRPr>
          </a:p>
        </p:txBody>
      </p:sp>
      <p:sp>
        <p:nvSpPr>
          <p:cNvPr id="186" name="Google Shape;186;g271dc8c5e98_0_223"/>
          <p:cNvSpPr/>
          <p:nvPr/>
        </p:nvSpPr>
        <p:spPr>
          <a:xfrm>
            <a:off x="1219325" y="1447925"/>
            <a:ext cx="10565700" cy="47340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Provided files</a:t>
            </a:r>
            <a:r>
              <a:rPr lang="en-US" sz="2600" b="0" i="0" u="none" strike="noStrike" cap="none">
                <a:solidFill>
                  <a:schemeClr val="dk1"/>
                </a:solidFill>
                <a:latin typeface="Arial"/>
                <a:ea typeface="Arial"/>
                <a:cs typeface="Arial"/>
                <a:sym typeface="Arial"/>
              </a:rPr>
              <a:t>: </a:t>
            </a:r>
            <a:r>
              <a:rPr lang="en-US" sz="2600" b="0" i="0" u="none" strike="noStrike" cap="none">
                <a:solidFill>
                  <a:schemeClr val="dk1"/>
                </a:solidFill>
                <a:latin typeface="Calibri"/>
                <a:ea typeface="Calibri"/>
                <a:cs typeface="Calibri"/>
                <a:sym typeface="Calibri"/>
              </a:rPr>
              <a:t>evaluator.py, checkpoint.pth</a:t>
            </a:r>
            <a:endParaRPr sz="2600" b="0" i="0" u="none" strike="noStrike" cap="none">
              <a:solidFill>
                <a:schemeClr val="dk1"/>
              </a:solidFill>
              <a:latin typeface="Calibri"/>
              <a:ea typeface="Calibri"/>
              <a:cs typeface="Calibri"/>
              <a:sym typeface="Calibri"/>
            </a:endParaRPr>
          </a:p>
          <a:p>
            <a:pPr marL="914400" marR="0" lvl="1" indent="-369569" algn="l" rtl="0">
              <a:lnSpc>
                <a:spcPct val="115000"/>
              </a:lnSpc>
              <a:spcBef>
                <a:spcPts val="0"/>
              </a:spcBef>
              <a:spcAft>
                <a:spcPts val="0"/>
              </a:spcAft>
              <a:buClr>
                <a:schemeClr val="dk1"/>
              </a:buClr>
              <a:buSzPts val="2220"/>
              <a:buFont typeface="Calibri"/>
              <a:buChar char="○"/>
            </a:pPr>
            <a:r>
              <a:rPr lang="en-US" sz="2220" b="0" i="0" u="none" strike="noStrike" cap="none">
                <a:solidFill>
                  <a:srgbClr val="FF0000"/>
                </a:solidFill>
                <a:latin typeface="Calibri"/>
                <a:ea typeface="Calibri"/>
                <a:cs typeface="Calibri"/>
                <a:sym typeface="Calibri"/>
              </a:rPr>
              <a:t>DO NOT modify any of them</a:t>
            </a:r>
            <a:endParaRPr sz="2220" b="0" i="0" u="none" strike="noStrike" cap="none">
              <a:solidFill>
                <a:srgbClr val="FF0000"/>
              </a:solidFill>
              <a:latin typeface="Calibri"/>
              <a:ea typeface="Calibri"/>
              <a:cs typeface="Calibri"/>
              <a:sym typeface="Calibri"/>
            </a:endParaRPr>
          </a:p>
          <a:p>
            <a:pPr marL="457200" marR="0" lvl="0" indent="-393700" algn="l" rtl="0">
              <a:lnSpc>
                <a:spcPct val="115000"/>
              </a:lnSpc>
              <a:spcBef>
                <a:spcPts val="0"/>
              </a:spcBef>
              <a:spcAft>
                <a:spcPts val="0"/>
              </a:spcAft>
              <a:buClr>
                <a:srgbClr val="D34817"/>
              </a:buClr>
              <a:buSzPts val="2600"/>
              <a:buFont typeface="Arial"/>
              <a:buChar char="●"/>
            </a:pPr>
            <a:r>
              <a:rPr lang="en-US" sz="2600" b="0" i="0" u="none" strike="noStrike" cap="none">
                <a:solidFill>
                  <a:schemeClr val="dk1"/>
                </a:solidFill>
                <a:latin typeface="Calibri"/>
                <a:ea typeface="Calibri"/>
                <a:cs typeface="Calibri"/>
                <a:sym typeface="Calibri"/>
              </a:rPr>
              <a:t>Use </a:t>
            </a:r>
            <a:r>
              <a:rPr lang="en-US" sz="2600" b="1" i="0" u="none" strike="noStrike" cap="none">
                <a:solidFill>
                  <a:schemeClr val="dk1"/>
                </a:solidFill>
                <a:latin typeface="Calibri"/>
                <a:ea typeface="Calibri"/>
                <a:cs typeface="Calibri"/>
                <a:sym typeface="Calibri"/>
              </a:rPr>
              <a:t>eval</a:t>
            </a:r>
            <a:r>
              <a:rPr lang="en-US" sz="2600" b="0" i="0" u="none" strike="noStrike" cap="none">
                <a:solidFill>
                  <a:schemeClr val="dk1"/>
                </a:solidFill>
                <a:latin typeface="Calibri"/>
                <a:ea typeface="Calibri"/>
                <a:cs typeface="Calibri"/>
                <a:sym typeface="Calibri"/>
              </a:rPr>
              <a:t>(images, labels) to compute accuracy of your synthetic images</a:t>
            </a:r>
            <a:endParaRPr sz="18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Labels should be one-hot vector. E.g. [[1,1,0,0,…],[0,1,0,0,…],…]</a:t>
            </a:r>
            <a:endParaRPr sz="18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Images should be all generated images. E.g. (batch size, 3, </a:t>
            </a:r>
            <a:r>
              <a:rPr lang="en-US" sz="2400" b="0" i="0" u="none" strike="noStrike" cap="none">
                <a:solidFill>
                  <a:srgbClr val="FF0000"/>
                </a:solidFill>
                <a:latin typeface="Calibri"/>
                <a:ea typeface="Calibri"/>
                <a:cs typeface="Calibri"/>
                <a:sym typeface="Calibri"/>
              </a:rPr>
              <a:t>64, 64</a:t>
            </a:r>
            <a:r>
              <a:rPr lang="en-US" sz="2400" b="0" i="0" u="none" strike="noStrike" cap="none">
                <a:solidFill>
                  <a:schemeClr val="dk1"/>
                </a:solidFill>
                <a:latin typeface="Calibri"/>
                <a:ea typeface="Calibri"/>
                <a:cs typeface="Calibri"/>
                <a:sym typeface="Calibri"/>
              </a:rPr>
              <a:t>)</a:t>
            </a:r>
            <a:endParaRPr sz="2400" b="0" i="0" u="none" strike="noStrike" cap="none">
              <a:solidFill>
                <a:schemeClr val="dk1"/>
              </a:solidFill>
              <a:latin typeface="Calibri"/>
              <a:ea typeface="Calibri"/>
              <a:cs typeface="Calibri"/>
              <a:sym typeface="Calibri"/>
            </a:endParaRPr>
          </a:p>
          <a:p>
            <a:pPr marL="914400" marR="0" lvl="1" indent="-381000" algn="l" rtl="0">
              <a:lnSpc>
                <a:spcPct val="115000"/>
              </a:lnSpc>
              <a:spcBef>
                <a:spcPts val="0"/>
              </a:spcBef>
              <a:spcAft>
                <a:spcPts val="0"/>
              </a:spcAft>
              <a:buClr>
                <a:schemeClr val="dk1"/>
              </a:buClr>
              <a:buSzPts val="2400"/>
              <a:buFont typeface="Arial"/>
              <a:buChar char="○"/>
            </a:pPr>
            <a:r>
              <a:rPr lang="en-US" sz="2400" b="0" i="0" u="none" strike="noStrike" cap="none">
                <a:solidFill>
                  <a:srgbClr val="FF0000"/>
                </a:solidFill>
                <a:latin typeface="Calibri"/>
                <a:ea typeface="Calibri"/>
                <a:cs typeface="Calibri"/>
                <a:sym typeface="Calibri"/>
              </a:rPr>
              <a:t>Images should be normalized with </a:t>
            </a:r>
            <a:r>
              <a:rPr lang="en-US" sz="1700" b="0" i="0" u="none" strike="noStrike" cap="none">
                <a:solidFill>
                  <a:srgbClr val="FF0000"/>
                </a:solidFill>
                <a:latin typeface="Calibri"/>
                <a:ea typeface="Calibri"/>
                <a:cs typeface="Calibri"/>
                <a:sym typeface="Calibri"/>
              </a:rPr>
              <a:t>transforms.Normalize((0.5, 0.5, 0.5), (0.5, 0.5, 0.5))</a:t>
            </a:r>
            <a:endParaRPr sz="2410" b="0" i="0" u="none" strike="noStrike" cap="none">
              <a:solidFill>
                <a:srgbClr val="000000"/>
              </a:solidFill>
              <a:latin typeface="Calibri"/>
              <a:ea typeface="Calibri"/>
              <a:cs typeface="Calibri"/>
              <a:sym typeface="Calibri"/>
            </a:endParaRPr>
          </a:p>
          <a:p>
            <a:pPr marL="457200" marR="0" lvl="0" indent="-394335" algn="l" rtl="0">
              <a:lnSpc>
                <a:spcPct val="115000"/>
              </a:lnSpc>
              <a:spcBef>
                <a:spcPts val="0"/>
              </a:spcBef>
              <a:spcAft>
                <a:spcPts val="0"/>
              </a:spcAft>
              <a:buClr>
                <a:srgbClr val="D34817"/>
              </a:buClr>
              <a:buSzPts val="2610"/>
              <a:buFont typeface="Calibri"/>
              <a:buChar char="●"/>
            </a:pPr>
            <a:r>
              <a:rPr lang="en-US" sz="2610" b="0" i="0" u="none" strike="noStrike" cap="none">
                <a:solidFill>
                  <a:srgbClr val="000000"/>
                </a:solidFill>
                <a:latin typeface="Calibri"/>
                <a:ea typeface="Calibri"/>
                <a:cs typeface="Calibri"/>
                <a:sym typeface="Calibri"/>
              </a:rPr>
              <a:t>You can involve this evaluator in training or sampling for better result</a:t>
            </a:r>
            <a:endParaRPr sz="26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410" b="0" i="0" u="none" strike="noStrike" cap="none">
                <a:solidFill>
                  <a:srgbClr val="000000"/>
                </a:solidFill>
                <a:latin typeface="Calibri"/>
                <a:ea typeface="Calibri"/>
                <a:cs typeface="Calibri"/>
                <a:sym typeface="Calibri"/>
              </a:rPr>
              <a:t>E.g. classifier guidance for DDPM</a:t>
            </a:r>
            <a:endParaRPr sz="24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410" b="0" i="0" u="none" strike="noStrike" cap="none">
                <a:solidFill>
                  <a:srgbClr val="000000"/>
                </a:solidFill>
                <a:latin typeface="Calibri"/>
                <a:ea typeface="Calibri"/>
                <a:cs typeface="Calibri"/>
                <a:sym typeface="Calibri"/>
              </a:rPr>
              <a:t>Inherit the class if you need extra functionalities</a:t>
            </a:r>
            <a:endParaRPr sz="24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rgbClr val="FF0000"/>
                </a:solidFill>
                <a:latin typeface="Calibri"/>
                <a:ea typeface="Calibri"/>
                <a:cs typeface="Calibri"/>
                <a:sym typeface="Calibri"/>
              </a:rPr>
              <a:t>Again, DO NOT modify the weight and class script</a:t>
            </a:r>
            <a:endParaRPr sz="2210" b="0" i="0" u="none" strike="noStrike" cap="none">
              <a:solidFill>
                <a:srgbClr val="FF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271dc8c5e98_0_242"/>
          <p:cNvSpPr txBox="1">
            <a:spLocks noGrp="1"/>
          </p:cNvSpPr>
          <p:nvPr>
            <p:ph type="ctrTitle"/>
          </p:nvPr>
        </p:nvSpPr>
        <p:spPr>
          <a:xfrm>
            <a:off x="239349" y="1988840"/>
            <a:ext cx="11809200" cy="14700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070C0"/>
              </a:buClr>
              <a:buSzPts val="3600"/>
              <a:buFont typeface="Calibri"/>
              <a:buNone/>
            </a:pPr>
            <a:r>
              <a:rPr lang="en-US" b="1">
                <a:solidFill>
                  <a:srgbClr val="0070C0"/>
                </a:solidFill>
                <a:latin typeface="Calibri"/>
                <a:ea typeface="Calibri"/>
                <a:cs typeface="Calibri"/>
                <a:sym typeface="Calibri"/>
              </a:rPr>
              <a:t>Implement a conditional DDPM</a:t>
            </a:r>
            <a:endParaRPr b="1">
              <a:solidFill>
                <a:srgbClr val="0070C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2415af6205d_0_2"/>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Design of DDPM</a:t>
            </a:r>
            <a:endParaRPr sz="1800" b="0" i="0" u="none" strike="noStrike" cap="none">
              <a:solidFill>
                <a:srgbClr val="000000"/>
              </a:solidFill>
              <a:latin typeface="Arial"/>
              <a:ea typeface="Arial"/>
              <a:cs typeface="Arial"/>
              <a:sym typeface="Arial"/>
            </a:endParaRPr>
          </a:p>
        </p:txBody>
      </p:sp>
      <p:sp>
        <p:nvSpPr>
          <p:cNvPr id="198" name="Google Shape;198;g2415af6205d_0_2"/>
          <p:cNvSpPr/>
          <p:nvPr/>
        </p:nvSpPr>
        <p:spPr>
          <a:xfrm>
            <a:off x="1219320" y="1447920"/>
            <a:ext cx="103620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Denoising diffusion model</a:t>
            </a:r>
            <a:endParaRPr sz="2600" b="0" i="0" u="none" strike="noStrike" cap="none">
              <a:solidFill>
                <a:srgbClr val="000000"/>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Latent diffusion model</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encoder/decoder design</a:t>
            </a:r>
            <a:endParaRPr sz="1800" b="0" i="0" u="none" strike="noStrike" cap="none">
              <a:solidFill>
                <a:srgbClr val="000000"/>
              </a:solidFill>
              <a:latin typeface="Calibri"/>
              <a:ea typeface="Calibri"/>
              <a:cs typeface="Calibri"/>
              <a:sym typeface="Calibri"/>
            </a:endParaRPr>
          </a:p>
          <a:p>
            <a:pPr marL="914400" marR="0" lvl="0" indent="0" algn="l" rtl="0">
              <a:lnSpc>
                <a:spcPct val="100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Condition embedding</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label embedding</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Time embedding</a:t>
            </a:r>
            <a:endParaRPr sz="2600" b="0" i="0" u="none" strike="noStrike" cap="none">
              <a:solidFill>
                <a:schemeClr val="dk1"/>
              </a:solidFill>
              <a:latin typeface="Calibri"/>
              <a:ea typeface="Calibri"/>
              <a:cs typeface="Calibri"/>
              <a:sym typeface="Calibri"/>
            </a:endParaRPr>
          </a:p>
          <a:p>
            <a:pPr marL="91440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dk1"/>
              </a:solidFill>
              <a:latin typeface="Arial"/>
              <a:ea typeface="Arial"/>
              <a:cs typeface="Arial"/>
              <a:sym typeface="Arial"/>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Noise schedule</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linear</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cosine</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other</a:t>
            </a:r>
            <a:endParaRPr sz="2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7"/>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Design of UNet</a:t>
            </a:r>
            <a:endParaRPr sz="1800" b="0" i="0" u="none" strike="noStrike" cap="none">
              <a:solidFill>
                <a:srgbClr val="000000"/>
              </a:solidFill>
              <a:latin typeface="Arial"/>
              <a:ea typeface="Arial"/>
              <a:cs typeface="Arial"/>
              <a:sym typeface="Arial"/>
            </a:endParaRPr>
          </a:p>
        </p:txBody>
      </p:sp>
      <p:sp>
        <p:nvSpPr>
          <p:cNvPr id="204" name="Google Shape;204;p7"/>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Number of blocks</a:t>
            </a:r>
            <a:endParaRPr sz="2600" b="0" i="0" u="none" strike="noStrike" cap="none">
              <a:solidFill>
                <a:schemeClr val="dk1"/>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Number of layers, channels in each blocks</a:t>
            </a:r>
            <a:endParaRPr sz="2600" b="0" i="0" u="none" strike="noStrike" cap="none">
              <a:solidFill>
                <a:schemeClr val="dk1"/>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Down/upsampling blocks design</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Architecture for the blocks. e.g. Resnet block</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Self/cross attention</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Where to add condition</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other</a:t>
            </a:r>
            <a:endParaRPr sz="2600" b="0" i="0" u="none" strike="noStrike" cap="none">
              <a:solidFill>
                <a:schemeClr val="dk1"/>
              </a:solidFill>
              <a:latin typeface="Calibri"/>
              <a:ea typeface="Calibri"/>
              <a:cs typeface="Calibri"/>
              <a:sym typeface="Calibri"/>
            </a:endParaRPr>
          </a:p>
        </p:txBody>
      </p:sp>
      <p:pic>
        <p:nvPicPr>
          <p:cNvPr id="205" name="Google Shape;205;p7"/>
          <p:cNvPicPr preferRelativeResize="0"/>
          <p:nvPr/>
        </p:nvPicPr>
        <p:blipFill rotWithShape="1">
          <a:blip r:embed="rId3">
            <a:alphaModFix/>
          </a:blip>
          <a:srcRect b="19902"/>
          <a:stretch/>
        </p:blipFill>
        <p:spPr>
          <a:xfrm>
            <a:off x="6073825" y="3119775"/>
            <a:ext cx="5625074" cy="35935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271dc8c5e98_0_256"/>
          <p:cNvSpPr/>
          <p:nvPr/>
        </p:nvSpPr>
        <p:spPr>
          <a:xfrm>
            <a:off x="1219320" y="1447920"/>
            <a:ext cx="103620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DDPM, DDIM, etc.</a:t>
            </a:r>
            <a:endParaRPr sz="260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With classifier guidance (</a:t>
            </a:r>
            <a:r>
              <a:rPr lang="en-US" sz="2600" b="0" i="0" u="sng" strike="noStrike" cap="none">
                <a:solidFill>
                  <a:schemeClr val="hlink"/>
                </a:solidFill>
                <a:latin typeface="Calibri"/>
                <a:ea typeface="Calibri"/>
                <a:cs typeface="Calibri"/>
                <a:sym typeface="Calibri"/>
                <a:hlinkClick r:id="rId3"/>
              </a:rPr>
              <a:t>Diffusion models beat gans on image synthesis</a:t>
            </a:r>
            <a:r>
              <a:rPr lang="en-US" sz="2600" b="0" i="0" u="none" strike="noStrike" cap="none">
                <a:solidFill>
                  <a:srgbClr val="000000"/>
                </a:solidFill>
                <a:latin typeface="Calibri"/>
                <a:ea typeface="Calibri"/>
                <a:cs typeface="Calibri"/>
                <a:sym typeface="Calibri"/>
              </a:rPr>
              <a:t>)</a:t>
            </a:r>
            <a:endParaRPr sz="1800" b="0" i="0" u="none" strike="noStrike" cap="none">
              <a:solidFill>
                <a:srgbClr val="000000"/>
              </a:solidFill>
              <a:latin typeface="Arial"/>
              <a:ea typeface="Arial"/>
              <a:cs typeface="Arial"/>
              <a:sym typeface="Arial"/>
            </a:endParaRPr>
          </a:p>
        </p:txBody>
      </p:sp>
      <p:sp>
        <p:nvSpPr>
          <p:cNvPr id="211" name="Google Shape;211;g271dc8c5e98_0_256"/>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Choice of sampling method</a:t>
            </a:r>
            <a:endParaRPr sz="1800" b="0" i="0" u="none" strike="noStrike" cap="none">
              <a:solidFill>
                <a:srgbClr val="000000"/>
              </a:solidFill>
              <a:latin typeface="Arial"/>
              <a:ea typeface="Arial"/>
              <a:cs typeface="Arial"/>
              <a:sym typeface="Arial"/>
            </a:endParaRPr>
          </a:p>
        </p:txBody>
      </p:sp>
      <p:pic>
        <p:nvPicPr>
          <p:cNvPr id="212" name="Google Shape;212;g271dc8c5e98_0_256"/>
          <p:cNvPicPr preferRelativeResize="0"/>
          <p:nvPr/>
        </p:nvPicPr>
        <p:blipFill rotWithShape="1">
          <a:blip r:embed="rId4">
            <a:alphaModFix/>
          </a:blip>
          <a:srcRect/>
          <a:stretch/>
        </p:blipFill>
        <p:spPr>
          <a:xfrm>
            <a:off x="2692163" y="2452447"/>
            <a:ext cx="6807675" cy="4167525"/>
          </a:xfrm>
          <a:prstGeom prst="rect">
            <a:avLst/>
          </a:prstGeom>
          <a:noFill/>
          <a:ln>
            <a:noFill/>
          </a:ln>
        </p:spPr>
      </p:pic>
      <p:sp>
        <p:nvSpPr>
          <p:cNvPr id="213" name="Google Shape;213;g271dc8c5e98_0_256"/>
          <p:cNvSpPr/>
          <p:nvPr/>
        </p:nvSpPr>
        <p:spPr>
          <a:xfrm>
            <a:off x="5835725" y="3701375"/>
            <a:ext cx="632400" cy="275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g271dc8c5e98_0_256"/>
          <p:cNvSpPr/>
          <p:nvPr/>
        </p:nvSpPr>
        <p:spPr>
          <a:xfrm>
            <a:off x="5187112" y="5614487"/>
            <a:ext cx="632400" cy="275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g271dc8c5e98_0_256"/>
          <p:cNvSpPr txBox="1"/>
          <p:nvPr/>
        </p:nvSpPr>
        <p:spPr>
          <a:xfrm>
            <a:off x="5819500" y="3895925"/>
            <a:ext cx="4669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Arial"/>
                <a:ea typeface="Arial"/>
                <a:cs typeface="Arial"/>
                <a:sym typeface="Arial"/>
              </a:rPr>
              <a:t>You can include the pretrained evaluator (classifier) here</a:t>
            </a:r>
            <a:endParaRPr sz="1400" b="0" i="0" u="none" strike="noStrike" cap="none">
              <a:solidFill>
                <a:srgbClr val="FF0000"/>
              </a:solidFill>
              <a:latin typeface="Arial"/>
              <a:ea typeface="Arial"/>
              <a:cs typeface="Arial"/>
              <a:sym typeface="Arial"/>
            </a:endParaRPr>
          </a:p>
        </p:txBody>
      </p:sp>
      <p:sp>
        <p:nvSpPr>
          <p:cNvPr id="216" name="Google Shape;216;g271dc8c5e98_0_256"/>
          <p:cNvSpPr txBox="1"/>
          <p:nvPr/>
        </p:nvSpPr>
        <p:spPr>
          <a:xfrm>
            <a:off x="5778975" y="5552225"/>
            <a:ext cx="4669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Arial"/>
                <a:ea typeface="Arial"/>
                <a:cs typeface="Arial"/>
                <a:sym typeface="Arial"/>
              </a:rPr>
              <a:t>You can include the pretrained evaluator (classifier) here</a:t>
            </a:r>
            <a:endParaRPr sz="1400" b="0" i="0" u="none" strike="noStrike" cap="none">
              <a:solidFill>
                <a:srgbClr val="FF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271dc8c5e98_0_307"/>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Simple suggestions (in the other PDF)</a:t>
            </a:r>
            <a:endParaRPr sz="1800" b="0" i="0" u="none" strike="noStrike" cap="none">
              <a:solidFill>
                <a:srgbClr val="000000"/>
              </a:solidFill>
              <a:latin typeface="Arial"/>
              <a:ea typeface="Arial"/>
              <a:cs typeface="Arial"/>
              <a:sym typeface="Arial"/>
            </a:endParaRPr>
          </a:p>
        </p:txBody>
      </p:sp>
      <p:sp>
        <p:nvSpPr>
          <p:cNvPr id="222" name="Google Shape;222;g271dc8c5e98_0_307"/>
          <p:cNvSpPr txBox="1"/>
          <p:nvPr/>
        </p:nvSpPr>
        <p:spPr>
          <a:xfrm>
            <a:off x="1626150" y="2166900"/>
            <a:ext cx="8939700" cy="252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FF0000"/>
                </a:solidFill>
                <a:latin typeface="Arial"/>
                <a:ea typeface="Arial"/>
                <a:cs typeface="Arial"/>
                <a:sym typeface="Arial"/>
              </a:rPr>
              <a:t>●</a:t>
            </a:r>
            <a:r>
              <a:rPr lang="en-US" sz="1900" b="0" i="0" u="none" strike="noStrike" cap="none">
                <a:solidFill>
                  <a:srgbClr val="000000"/>
                </a:solidFill>
                <a:latin typeface="Arial"/>
                <a:ea typeface="Arial"/>
                <a:cs typeface="Arial"/>
                <a:sym typeface="Arial"/>
              </a:rPr>
              <a:t>	</a:t>
            </a:r>
            <a:r>
              <a:rPr lang="en-US" sz="1900" b="0" i="0" u="sng" strike="noStrike" cap="none">
                <a:solidFill>
                  <a:schemeClr val="hlink"/>
                </a:solidFill>
                <a:latin typeface="Arial"/>
                <a:ea typeface="Arial"/>
                <a:cs typeface="Arial"/>
                <a:sym typeface="Arial"/>
                <a:hlinkClick r:id="rId3"/>
              </a:rPr>
              <a:t>Denoising Diffusion Probabilistic Models</a:t>
            </a:r>
            <a:r>
              <a:rPr lang="en-US" sz="1900" b="0" i="0" u="none" strike="noStrike" cap="none">
                <a:solidFill>
                  <a:srgbClr val="000000"/>
                </a:solidFill>
                <a:latin typeface="Arial"/>
                <a:ea typeface="Arial"/>
                <a:cs typeface="Arial"/>
                <a:sym typeface="Arial"/>
              </a:rPr>
              <a:t> </a:t>
            </a: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FF0000"/>
                </a:solidFill>
                <a:latin typeface="Arial"/>
                <a:ea typeface="Arial"/>
                <a:cs typeface="Arial"/>
                <a:sym typeface="Arial"/>
              </a:rPr>
              <a:t>●</a:t>
            </a:r>
            <a:r>
              <a:rPr lang="en-US" sz="1900" b="0" i="0" u="none" strike="noStrike" cap="none">
                <a:solidFill>
                  <a:srgbClr val="000000"/>
                </a:solidFill>
                <a:latin typeface="Arial"/>
                <a:ea typeface="Arial"/>
                <a:cs typeface="Arial"/>
                <a:sym typeface="Arial"/>
              </a:rPr>
              <a:t>	</a:t>
            </a:r>
            <a:r>
              <a:rPr lang="en-US" sz="1900" b="0" i="0" u="sng" strike="noStrike" cap="none">
                <a:solidFill>
                  <a:schemeClr val="hlink"/>
                </a:solidFill>
                <a:latin typeface="Arial"/>
                <a:ea typeface="Arial"/>
                <a:cs typeface="Arial"/>
                <a:sym typeface="Arial"/>
                <a:hlinkClick r:id="rId4"/>
              </a:rPr>
              <a:t>Hugging Face Diffusion Models Course</a:t>
            </a:r>
            <a:r>
              <a:rPr lang="en-US" sz="1900" b="0" i="0" u="none" strike="noStrike" cap="none">
                <a:solidFill>
                  <a:srgbClr val="000000"/>
                </a:solidFill>
                <a:latin typeface="Arial"/>
                <a:ea typeface="Arial"/>
                <a:cs typeface="Arial"/>
                <a:sym typeface="Arial"/>
              </a:rPr>
              <a:t> </a:t>
            </a: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The Hugging Face Diffuser library offers comprehensive functionality to help you implement various diffusion model architectures, scheduling methods, sampling types, reparameterizations, etc. You can refer to the tutorial linked above to design your diffusion model for this lab. </a:t>
            </a: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271dc8c5e98_0_301"/>
          <p:cNvSpPr txBox="1">
            <a:spLocks noGrp="1"/>
          </p:cNvSpPr>
          <p:nvPr>
            <p:ph type="ctrTitle"/>
          </p:nvPr>
        </p:nvSpPr>
        <p:spPr>
          <a:xfrm>
            <a:off x="239349" y="1988840"/>
            <a:ext cx="11809200" cy="14700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070C0"/>
              </a:buClr>
              <a:buSzPts val="3600"/>
              <a:buFont typeface="Calibri"/>
              <a:buNone/>
            </a:pPr>
            <a:r>
              <a:rPr lang="en-US" b="1">
                <a:solidFill>
                  <a:srgbClr val="0070C0"/>
                </a:solidFill>
                <a:latin typeface="Calibri"/>
                <a:ea typeface="Calibri"/>
                <a:cs typeface="Calibri"/>
                <a:sym typeface="Calibri"/>
              </a:rPr>
              <a:t>Scoring criteria</a:t>
            </a:r>
            <a:endParaRPr b="1">
              <a:solidFill>
                <a:srgbClr val="0070C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27feb24d4d9_0_14"/>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Scoring criteria</a:t>
            </a:r>
            <a:endParaRPr sz="1800" b="0" i="0" u="none" strike="noStrike" cap="none">
              <a:solidFill>
                <a:srgbClr val="000000"/>
              </a:solidFill>
              <a:latin typeface="Arial"/>
              <a:ea typeface="Arial"/>
              <a:cs typeface="Arial"/>
              <a:sym typeface="Arial"/>
            </a:endParaRPr>
          </a:p>
        </p:txBody>
      </p:sp>
      <p:sp>
        <p:nvSpPr>
          <p:cNvPr id="234" name="Google Shape;234;g27feb24d4d9_0_14"/>
          <p:cNvSpPr/>
          <p:nvPr/>
        </p:nvSpPr>
        <p:spPr>
          <a:xfrm>
            <a:off x="1219320" y="1447920"/>
            <a:ext cx="103620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dirty="0">
                <a:solidFill>
                  <a:srgbClr val="000000"/>
                </a:solidFill>
                <a:latin typeface="Calibri"/>
                <a:ea typeface="Calibri"/>
                <a:cs typeface="Calibri"/>
                <a:sym typeface="Calibri"/>
              </a:rPr>
              <a:t>Report (60%)</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Introduction (5%)</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Implementation details (30%)</a:t>
            </a:r>
            <a:endParaRPr sz="1400" b="0" i="0" u="none" strike="noStrike" cap="none" dirty="0">
              <a:solidFill>
                <a:srgbClr val="000000"/>
              </a:solidFill>
              <a:latin typeface="Arial"/>
              <a:ea typeface="Arial"/>
              <a:cs typeface="Arial"/>
              <a:sym typeface="Arial"/>
            </a:endParaRPr>
          </a:p>
          <a:p>
            <a:pPr marL="1371600" marR="0" lvl="2"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Describe how you implement your model, what is this step, including your choice of DDPM, noise schedule.</a:t>
            </a:r>
            <a:endParaRPr sz="2400" b="0" i="0" u="none" strike="noStrike" cap="none" dirty="0">
              <a:solidFill>
                <a:srgbClr val="000000"/>
              </a:solidFill>
              <a:latin typeface="Calibri"/>
              <a:ea typeface="Calibri"/>
              <a:cs typeface="Calibri"/>
              <a:sym typeface="Calibri"/>
            </a:endParaRPr>
          </a:p>
          <a:p>
            <a:pPr marL="13716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a:t>
            </a:r>
            <a:r>
              <a:rPr lang="en-US" sz="2400" b="0" i="0" u="none" strike="noStrike" cap="none" dirty="0">
                <a:solidFill>
                  <a:srgbClr val="FF0000"/>
                </a:solidFill>
                <a:latin typeface="Calibri"/>
                <a:ea typeface="Calibri"/>
                <a:cs typeface="Calibri"/>
                <a:sym typeface="Calibri"/>
              </a:rPr>
              <a:t>Please write in detail.</a:t>
            </a:r>
            <a:r>
              <a:rPr lang="en-US" sz="2400" b="0" i="0" u="none" strike="noStrike" cap="none" dirty="0">
                <a:solidFill>
                  <a:srgbClr val="000000"/>
                </a:solidFill>
                <a:latin typeface="Calibri"/>
                <a:ea typeface="Calibri"/>
                <a:cs typeface="Calibri"/>
                <a:sym typeface="Calibri"/>
              </a:rPr>
              <a:t>)</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Results and </a:t>
            </a:r>
            <a:r>
              <a:rPr lang="en-US" sz="2400" b="0" i="0" u="none" strike="noStrike" cap="none">
                <a:solidFill>
                  <a:srgbClr val="000000"/>
                </a:solidFill>
                <a:latin typeface="Calibri"/>
                <a:ea typeface="Calibri"/>
                <a:cs typeface="Calibri"/>
                <a:sym typeface="Calibri"/>
              </a:rPr>
              <a:t>discussion (</a:t>
            </a:r>
            <a:r>
              <a:rPr lang="en-US" sz="2400">
                <a:latin typeface="Calibri"/>
                <a:ea typeface="Calibri"/>
                <a:cs typeface="Calibri"/>
                <a:sym typeface="Calibri"/>
              </a:rPr>
              <a:t>25</a:t>
            </a:r>
            <a:r>
              <a:rPr lang="en-US" sz="2400" b="0" i="0" u="none" strike="noStrike" cap="none">
                <a:solidFill>
                  <a:srgbClr val="000000"/>
                </a:solidFill>
                <a:latin typeface="Calibri"/>
                <a:ea typeface="Calibri"/>
                <a:cs typeface="Calibri"/>
                <a:sym typeface="Calibri"/>
              </a:rPr>
              <a:t>%)</a:t>
            </a:r>
            <a:endParaRPr sz="2400" b="0" i="0" u="none" strike="noStrike" cap="none" dirty="0">
              <a:solidFill>
                <a:srgbClr val="000000"/>
              </a:solidFill>
              <a:latin typeface="Calibri"/>
              <a:ea typeface="Calibri"/>
              <a:cs typeface="Calibri"/>
              <a:sym typeface="Calibri"/>
            </a:endParaRPr>
          </a:p>
          <a:p>
            <a:pPr marL="1371600" marR="0" lvl="2"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Show your synthetic image grids and save images (</a:t>
            </a:r>
            <a:r>
              <a:rPr lang="en-US" sz="2400" dirty="0">
                <a:latin typeface="Calibri"/>
                <a:ea typeface="Calibri"/>
                <a:cs typeface="Calibri"/>
                <a:sym typeface="Calibri"/>
              </a:rPr>
              <a:t>6</a:t>
            </a:r>
            <a:r>
              <a:rPr lang="en-US" sz="2400" b="0" i="0" u="none" strike="noStrike" cap="none" dirty="0">
                <a:solidFill>
                  <a:srgbClr val="000000"/>
                </a:solidFill>
                <a:latin typeface="Calibri"/>
                <a:ea typeface="Calibri"/>
                <a:cs typeface="Calibri"/>
                <a:sym typeface="Calibri"/>
              </a:rPr>
              <a:t>%: </a:t>
            </a:r>
            <a:r>
              <a:rPr lang="en-US" sz="2400" dirty="0">
                <a:latin typeface="Calibri"/>
                <a:ea typeface="Calibri"/>
                <a:cs typeface="Calibri"/>
                <a:sym typeface="Calibri"/>
              </a:rPr>
              <a:t>3</a:t>
            </a:r>
            <a:r>
              <a:rPr lang="en-US" sz="2400" b="0" i="0" u="none" strike="noStrike" cap="none" dirty="0">
                <a:solidFill>
                  <a:srgbClr val="000000"/>
                </a:solidFill>
                <a:latin typeface="Calibri"/>
                <a:ea typeface="Calibri"/>
                <a:cs typeface="Calibri"/>
                <a:sym typeface="Calibri"/>
              </a:rPr>
              <a:t>% * 2 testing data) and a denoising process image (4%) </a:t>
            </a:r>
            <a:endParaRPr sz="2400" b="0" i="0" u="none" strike="noStrike" cap="none" dirty="0">
              <a:solidFill>
                <a:srgbClr val="000000"/>
              </a:solidFill>
              <a:latin typeface="Calibri"/>
              <a:ea typeface="Calibri"/>
              <a:cs typeface="Calibri"/>
              <a:sym typeface="Calibri"/>
            </a:endParaRPr>
          </a:p>
          <a:p>
            <a:pPr marL="1371600" marR="0" lvl="2"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Discussion of your extra implementations or experiments (15%) </a:t>
            </a:r>
            <a:endParaRPr sz="24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4"/>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Scoring criteria</a:t>
            </a:r>
            <a:endParaRPr sz="1800" b="0" i="0" u="none" strike="noStrike" cap="none">
              <a:solidFill>
                <a:srgbClr val="000000"/>
              </a:solidFill>
              <a:latin typeface="Arial"/>
              <a:ea typeface="Arial"/>
              <a:cs typeface="Arial"/>
              <a:sym typeface="Arial"/>
            </a:endParaRPr>
          </a:p>
        </p:txBody>
      </p:sp>
      <p:sp>
        <p:nvSpPr>
          <p:cNvPr id="241" name="Google Shape;241;p14"/>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Result (40%) (based on results shown in your report)</a:t>
            </a:r>
            <a:endParaRPr sz="2600" b="0" i="0" u="none" strike="noStrike" cap="none">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Classification accuracy on test.json and new_test.json.</a:t>
            </a:r>
            <a:endParaRPr sz="2400" b="0" i="0" u="none" strike="noStrike" cap="none">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Show your accuracy screenshots.</a:t>
            </a:r>
            <a:endParaRPr sz="2400" b="0" i="0" u="none" strike="noStrike" cap="none">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20% * 2 testing data</a:t>
            </a:r>
            <a:endParaRPr sz="1800" b="0" i="0" u="none" strike="noStrike" cap="none">
              <a:solidFill>
                <a:srgbClr val="000000"/>
              </a:solidFill>
              <a:latin typeface="Calibri"/>
              <a:ea typeface="Calibri"/>
              <a:cs typeface="Calibri"/>
              <a:sym typeface="Calibri"/>
            </a:endParaRPr>
          </a:p>
        </p:txBody>
      </p:sp>
      <p:pic>
        <p:nvPicPr>
          <p:cNvPr id="242" name="Google Shape;242;p14"/>
          <p:cNvPicPr preferRelativeResize="0"/>
          <p:nvPr/>
        </p:nvPicPr>
        <p:blipFill rotWithShape="1">
          <a:blip r:embed="rId3">
            <a:alphaModFix/>
          </a:blip>
          <a:srcRect/>
          <a:stretch/>
        </p:blipFill>
        <p:spPr>
          <a:xfrm>
            <a:off x="6920325" y="3142600"/>
            <a:ext cx="4204475" cy="2875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3"/>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Save Images</a:t>
            </a:r>
            <a:endParaRPr sz="1800" b="0" i="0" u="none" strike="noStrike" cap="none">
              <a:solidFill>
                <a:srgbClr val="000000"/>
              </a:solidFill>
              <a:latin typeface="Arial"/>
              <a:ea typeface="Arial"/>
              <a:cs typeface="Arial"/>
              <a:sym typeface="Arial"/>
            </a:endParaRPr>
          </a:p>
        </p:txBody>
      </p:sp>
      <p:sp>
        <p:nvSpPr>
          <p:cNvPr id="248" name="Google Shape;248;p13"/>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FF0000"/>
              </a:buClr>
              <a:buSzPts val="2600"/>
              <a:buFont typeface="Calibri"/>
              <a:buChar char="●"/>
            </a:pPr>
            <a:r>
              <a:rPr lang="en-US" sz="2600" b="0" i="0" u="none" strike="noStrike" cap="none">
                <a:solidFill>
                  <a:srgbClr val="000000"/>
                </a:solidFill>
                <a:latin typeface="Calibri"/>
                <a:ea typeface="Calibri"/>
                <a:cs typeface="Calibri"/>
                <a:sym typeface="Calibri"/>
              </a:rPr>
              <a:t>Save </a:t>
            </a:r>
            <a:r>
              <a:rPr lang="en-US" sz="2400" b="0" i="0" u="none" strike="noStrike" cap="none">
                <a:solidFill>
                  <a:schemeClr val="dk1"/>
                </a:solidFill>
                <a:latin typeface="Calibri"/>
                <a:ea typeface="Calibri"/>
                <a:cs typeface="Calibri"/>
                <a:sym typeface="Calibri"/>
              </a:rPr>
              <a:t>your synthetic images for the 2 testing data (test.json , new_test.json)</a:t>
            </a:r>
            <a:br>
              <a:rPr lang="en-US" sz="2400" b="0" i="0" u="none" strike="noStrike" cap="none">
                <a:solidFill>
                  <a:schemeClr val="dk1"/>
                </a:solidFill>
                <a:latin typeface="Calibri"/>
                <a:ea typeface="Calibri"/>
                <a:cs typeface="Calibri"/>
                <a:sym typeface="Calibri"/>
              </a:rPr>
            </a:br>
            <a:r>
              <a:rPr lang="en-US" sz="2400" b="1" i="0" u="none" strike="noStrike" cap="none">
                <a:solidFill>
                  <a:srgbClr val="FF0000"/>
                </a:solidFill>
                <a:latin typeface="Calibri"/>
                <a:ea typeface="Calibri"/>
                <a:cs typeface="Calibri"/>
                <a:sym typeface="Calibri"/>
              </a:rPr>
              <a:t>Save in png files</a:t>
            </a:r>
            <a:r>
              <a:rPr lang="en-US" sz="2600" b="1" i="0" u="none" strike="noStrike" cap="none">
                <a:solidFill>
                  <a:srgbClr val="FF0000"/>
                </a:solidFill>
                <a:latin typeface="Calibri"/>
                <a:ea typeface="Calibri"/>
                <a:cs typeface="Calibri"/>
                <a:sym typeface="Calibri"/>
              </a:rPr>
              <a:t> !!!</a:t>
            </a:r>
            <a:endParaRPr sz="2600" b="1" i="0" u="none" strike="noStrike" cap="none">
              <a:solidFill>
                <a:srgbClr val="FF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FF0000"/>
              </a:buClr>
              <a:buSzPts val="2600"/>
              <a:buFont typeface="Calibri"/>
              <a:buChar char="●"/>
            </a:pPr>
            <a:r>
              <a:rPr lang="en-US" sz="2600" b="0" i="0" u="none" strike="noStrike" cap="none">
                <a:solidFill>
                  <a:srgbClr val="000000"/>
                </a:solidFill>
                <a:latin typeface="Calibri"/>
                <a:ea typeface="Calibri"/>
                <a:cs typeface="Calibri"/>
                <a:sym typeface="Calibri"/>
              </a:rPr>
              <a:t>The data structure will be organised as follows:</a:t>
            </a: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FF0000"/>
              </a:buClr>
              <a:buSzPts val="2600"/>
              <a:buFont typeface="Calibri"/>
              <a:buChar char="●"/>
            </a:pPr>
            <a:r>
              <a:rPr lang="en-US" sz="2600" b="0" i="0" u="none" strike="noStrike" cap="none">
                <a:solidFill>
                  <a:srgbClr val="000000"/>
                </a:solidFill>
                <a:latin typeface="Calibri"/>
                <a:ea typeface="Calibri"/>
                <a:cs typeface="Calibri"/>
                <a:sym typeface="Calibri"/>
              </a:rPr>
              <a:t>The image name should follow the order in the </a:t>
            </a:r>
            <a:br>
              <a:rPr lang="en-US" sz="2600" b="0" i="0" u="none" strike="noStrike" cap="none">
                <a:solidFill>
                  <a:srgbClr val="000000"/>
                </a:solidFill>
                <a:latin typeface="Calibri"/>
                <a:ea typeface="Calibri"/>
                <a:cs typeface="Calibri"/>
                <a:sym typeface="Calibri"/>
              </a:rPr>
            </a:br>
            <a:r>
              <a:rPr lang="en-US" sz="2600" b="0" i="0" u="none" strike="noStrike" cap="none">
                <a:solidFill>
                  <a:srgbClr val="000000"/>
                </a:solidFill>
                <a:latin typeface="Calibri"/>
                <a:ea typeface="Calibri"/>
                <a:cs typeface="Calibri"/>
                <a:sym typeface="Calibri"/>
              </a:rPr>
              <a:t>test.json and new_test.json.</a:t>
            </a: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p:txBody>
      </p:sp>
      <p:pic>
        <p:nvPicPr>
          <p:cNvPr id="249" name="Google Shape;249;p13"/>
          <p:cNvPicPr preferRelativeResize="0"/>
          <p:nvPr/>
        </p:nvPicPr>
        <p:blipFill rotWithShape="1">
          <a:blip r:embed="rId3">
            <a:alphaModFix/>
          </a:blip>
          <a:srcRect/>
          <a:stretch/>
        </p:blipFill>
        <p:spPr>
          <a:xfrm>
            <a:off x="8707325" y="2238212"/>
            <a:ext cx="2005250" cy="2989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1"/>
          <p:cNvSpPr/>
          <p:nvPr/>
        </p:nvSpPr>
        <p:spPr>
          <a:xfrm>
            <a:off x="425471" y="693650"/>
            <a:ext cx="26049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Output </a:t>
            </a:r>
            <a:endParaRPr sz="4000" b="1" i="0" u="none" strike="noStrike" cap="none">
              <a:solidFill>
                <a:srgbClr val="0070C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examples</a:t>
            </a:r>
            <a:endParaRPr sz="1800" b="0" i="0" u="none" strike="noStrike" cap="none">
              <a:solidFill>
                <a:srgbClr val="000000"/>
              </a:solidFill>
              <a:latin typeface="Arial"/>
              <a:ea typeface="Arial"/>
              <a:cs typeface="Arial"/>
              <a:sym typeface="Arial"/>
            </a:endParaRPr>
          </a:p>
        </p:txBody>
      </p:sp>
      <p:pic>
        <p:nvPicPr>
          <p:cNvPr id="255" name="Google Shape;255;p11"/>
          <p:cNvPicPr preferRelativeResize="0"/>
          <p:nvPr/>
        </p:nvPicPr>
        <p:blipFill rotWithShape="1">
          <a:blip r:embed="rId3">
            <a:alphaModFix/>
          </a:blip>
          <a:srcRect/>
          <a:stretch/>
        </p:blipFill>
        <p:spPr>
          <a:xfrm>
            <a:off x="3030375" y="223460"/>
            <a:ext cx="8550824" cy="641107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896</Words>
  <Application>Microsoft Office PowerPoint</Application>
  <PresentationFormat>寬螢幕</PresentationFormat>
  <Paragraphs>137</Paragraphs>
  <Slides>20</Slides>
  <Notes>20</Notes>
  <HiddenSlides>0</HiddenSlides>
  <MMClips>0</MMClips>
  <ScaleCrop>false</ScaleCrop>
  <HeadingPairs>
    <vt:vector size="6" baseType="variant">
      <vt:variant>
        <vt:lpstr>使用字型</vt:lpstr>
      </vt:variant>
      <vt:variant>
        <vt:i4>6</vt:i4>
      </vt:variant>
      <vt:variant>
        <vt:lpstr>佈景主題</vt:lpstr>
      </vt:variant>
      <vt:variant>
        <vt:i4>2</vt:i4>
      </vt:variant>
      <vt:variant>
        <vt:lpstr>投影片標題</vt:lpstr>
      </vt:variant>
      <vt:variant>
        <vt:i4>20</vt:i4>
      </vt:variant>
    </vt:vector>
  </HeadingPairs>
  <TitlesOfParts>
    <vt:vector size="28" baseType="lpstr">
      <vt:lpstr>Libre Baskerville</vt:lpstr>
      <vt:lpstr>Libre Franklin</vt:lpstr>
      <vt:lpstr>Arial</vt:lpstr>
      <vt:lpstr>Times New Roman</vt:lpstr>
      <vt:lpstr>Calibri</vt:lpstr>
      <vt:lpstr>Times</vt:lpstr>
      <vt:lpstr>Office Theme</vt:lpstr>
      <vt:lpstr>Office Theme</vt:lpstr>
      <vt:lpstr>PowerPoint 簡報</vt:lpstr>
      <vt:lpstr>PowerPoint 簡報</vt:lpstr>
      <vt:lpstr>PowerPoint 簡報</vt:lpstr>
      <vt:lpstr>Lab description</vt:lpstr>
      <vt:lpstr>PowerPoint 簡報</vt:lpstr>
      <vt:lpstr>PowerPoint 簡報</vt:lpstr>
      <vt:lpstr>PowerPoint 簡報</vt:lpstr>
      <vt:lpstr>PowerPoint 簡報</vt:lpstr>
      <vt:lpstr>PowerPoint 簡報</vt:lpstr>
      <vt:lpstr>PowerPoint 簡報</vt:lpstr>
      <vt:lpstr>Implement a conditional DDPM</vt:lpstr>
      <vt:lpstr>PowerPoint 簡報</vt:lpstr>
      <vt:lpstr>PowerPoint 簡報</vt:lpstr>
      <vt:lpstr>PowerPoint 簡報</vt:lpstr>
      <vt:lpstr>PowerPoint 簡報</vt:lpstr>
      <vt:lpstr>Scoring criteria</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jiajun zhong</dc:creator>
  <cp:lastModifiedBy>成偉 楊</cp:lastModifiedBy>
  <cp:revision>28</cp:revision>
  <dcterms:created xsi:type="dcterms:W3CDTF">2019-01-24T07:30:16Z</dcterms:created>
  <dcterms:modified xsi:type="dcterms:W3CDTF">2026-04-25T16:14:41Z</dcterms:modified>
</cp:coreProperties>
</file>